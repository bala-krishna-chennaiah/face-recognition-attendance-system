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sldIdLst>
    <p:sldId id="256" r:id="rId2"/>
    <p:sldId id="257" r:id="rId3"/>
    <p:sldId id="269" r:id="rId4"/>
    <p:sldId id="282" r:id="rId5"/>
    <p:sldId id="276" r:id="rId6"/>
    <p:sldId id="275" r:id="rId7"/>
    <p:sldId id="270" r:id="rId8"/>
    <p:sldId id="284" r:id="rId9"/>
    <p:sldId id="286" r:id="rId10"/>
    <p:sldId id="285" r:id="rId11"/>
    <p:sldId id="274" r:id="rId12"/>
    <p:sldId id="277" r:id="rId13"/>
    <p:sldId id="288" r:id="rId14"/>
    <p:sldId id="278" r:id="rId15"/>
    <p:sldId id="279" r:id="rId16"/>
    <p:sldId id="280" r:id="rId17"/>
    <p:sldId id="313" r:id="rId18"/>
    <p:sldId id="342" r:id="rId19"/>
    <p:sldId id="299" r:id="rId20"/>
    <p:sldId id="300" r:id="rId21"/>
    <p:sldId id="301" r:id="rId22"/>
    <p:sldId id="302" r:id="rId23"/>
    <p:sldId id="304" r:id="rId24"/>
    <p:sldId id="314" r:id="rId25"/>
    <p:sldId id="316" r:id="rId26"/>
    <p:sldId id="305" r:id="rId27"/>
    <p:sldId id="311" r:id="rId28"/>
    <p:sldId id="338" r:id="rId29"/>
    <p:sldId id="312" r:id="rId30"/>
    <p:sldId id="336" r:id="rId31"/>
    <p:sldId id="339" r:id="rId32"/>
    <p:sldId id="340" r:id="rId33"/>
    <p:sldId id="324" r:id="rId34"/>
    <p:sldId id="325" r:id="rId35"/>
    <p:sldId id="309" r:id="rId36"/>
    <p:sldId id="306" r:id="rId37"/>
    <p:sldId id="319" r:id="rId38"/>
    <p:sldId id="334" r:id="rId39"/>
    <p:sldId id="329" r:id="rId40"/>
    <p:sldId id="337" r:id="rId41"/>
    <p:sldId id="330" r:id="rId42"/>
    <p:sldId id="332" r:id="rId43"/>
    <p:sldId id="28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78" autoAdjust="0"/>
    <p:restoredTop sz="94660"/>
  </p:normalViewPr>
  <p:slideViewPr>
    <p:cSldViewPr snapToGrid="0">
      <p:cViewPr varScale="1">
        <p:scale>
          <a:sx n="72" d="100"/>
          <a:sy n="72" d="100"/>
        </p:scale>
        <p:origin x="7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DEED299-7CA3-4725-BFAD-C57E9F40C51C}" type="datetimeFigureOut">
              <a:rPr lang="en-IN" smtClean="0"/>
              <a:t>16-03-2022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14913943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EED299-7CA3-4725-BFAD-C57E9F40C51C}" type="datetimeFigureOut">
              <a:rPr lang="en-IN" smtClean="0"/>
              <a:t>16-03-2022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639345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DEED299-7CA3-4725-BFAD-C57E9F40C51C}" type="datetimeFigureOut">
              <a:rPr lang="en-IN" smtClean="0"/>
              <a:t>16-03-2022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7237256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DEED299-7CA3-4725-BFAD-C57E9F40C51C}" type="datetimeFigureOut">
              <a:rPr lang="en-IN" smtClean="0"/>
              <a:t>16-03-2022</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50505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DEED299-7CA3-4725-BFAD-C57E9F40C51C}" type="datetimeFigureOut">
              <a:rPr lang="en-IN" smtClean="0"/>
              <a:t>16-03-2022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35FF2F-9C59-4E70-9B76-91D3D062ACC9}"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39335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EED299-7CA3-4725-BFAD-C57E9F40C51C}" type="datetimeFigureOut">
              <a:rPr lang="en-IN" smtClean="0"/>
              <a:t>16-03-2022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010713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EED299-7CA3-4725-BFAD-C57E9F40C51C}" type="datetimeFigureOut">
              <a:rPr lang="en-IN" smtClean="0"/>
              <a:t>16-03-2022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516002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DEED299-7CA3-4725-BFAD-C57E9F40C51C}" type="datetimeFigureOut">
              <a:rPr lang="en-IN" smtClean="0"/>
              <a:t>16-03-2022</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4190510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DEED299-7CA3-4725-BFAD-C57E9F40C51C}" type="datetimeFigureOut">
              <a:rPr lang="en-IN" smtClean="0"/>
              <a:t>16-03-2022</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279343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ED299-7CA3-4725-BFAD-C57E9F40C51C}" type="datetimeFigureOut">
              <a:rPr lang="en-IN" smtClean="0"/>
              <a:t>16-03-2022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320427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ED299-7CA3-4725-BFAD-C57E9F40C51C}" type="datetimeFigureOut">
              <a:rPr lang="en-IN" smtClean="0"/>
              <a:t>16-03-2022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35FF2F-9C59-4E70-9B76-91D3D062ACC9}" type="slidenum">
              <a:rPr lang="en-IN" smtClean="0"/>
              <a:t>‹#›</a:t>
            </a:fld>
            <a:endParaRPr lang="en-IN"/>
          </a:p>
        </p:txBody>
      </p:sp>
    </p:spTree>
    <p:extLst>
      <p:ext uri="{BB962C8B-B14F-4D97-AF65-F5344CB8AC3E}">
        <p14:creationId xmlns:p14="http://schemas.microsoft.com/office/powerpoint/2010/main" val="1886665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DEED299-7CA3-4725-BFAD-C57E9F40C51C}" type="datetimeFigureOut">
              <a:rPr lang="en-IN" smtClean="0"/>
              <a:t>16-03-2022</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635FF2F-9C59-4E70-9B76-91D3D062ACC9}" type="slidenum">
              <a:rPr lang="en-IN" smtClean="0"/>
              <a:t>‹#›</a:t>
            </a:fld>
            <a:endParaRPr lang="en-IN"/>
          </a:p>
        </p:txBody>
      </p:sp>
    </p:spTree>
    <p:extLst>
      <p:ext uri="{BB962C8B-B14F-4D97-AF65-F5344CB8AC3E}">
        <p14:creationId xmlns:p14="http://schemas.microsoft.com/office/powerpoint/2010/main" val="1020576361"/>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FDAA5-7760-4748-B824-EE6BA5B2E637}"/>
              </a:ext>
            </a:extLst>
          </p:cNvPr>
          <p:cNvSpPr>
            <a:spLocks noGrp="1"/>
          </p:cNvSpPr>
          <p:nvPr>
            <p:ph type="ctrTitle"/>
          </p:nvPr>
        </p:nvSpPr>
        <p:spPr>
          <a:xfrm>
            <a:off x="426722" y="351692"/>
            <a:ext cx="5059678" cy="5767754"/>
          </a:xfrm>
        </p:spPr>
        <p:txBody>
          <a:bodyPr>
            <a:noAutofit/>
          </a:bodyPr>
          <a:lstStyle/>
          <a:p>
            <a:pPr algn="l"/>
            <a:r>
              <a:rPr lang="en-US" sz="6600" b="1" u="sng" dirty="0">
                <a:latin typeface="Agency FB" panose="020B0503020202020204" pitchFamily="34" charset="0"/>
              </a:rPr>
              <a:t>Face Recognition Attendance System</a:t>
            </a:r>
            <a:br>
              <a:rPr lang="en-US" sz="1800" dirty="0"/>
            </a:br>
            <a:endParaRPr lang="en-IN" sz="1800" dirty="0"/>
          </a:p>
        </p:txBody>
      </p:sp>
      <p:pic>
        <p:nvPicPr>
          <p:cNvPr id="1030" name="Picture 6" descr="Facial Recognition Attendance System | VersionX">
            <a:extLst>
              <a:ext uri="{FF2B5EF4-FFF2-40B4-BE49-F238E27FC236}">
                <a16:creationId xmlns:a16="http://schemas.microsoft.com/office/drawing/2014/main" id="{6F44116D-D143-4481-BAC3-E9AC38219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5442" y="1677683"/>
            <a:ext cx="5869837" cy="328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57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5232F-E634-4A58-AB9C-8FAA28B0A75D}"/>
              </a:ext>
            </a:extLst>
          </p:cNvPr>
          <p:cNvSpPr>
            <a:spLocks noGrp="1"/>
          </p:cNvSpPr>
          <p:nvPr>
            <p:ph type="title"/>
          </p:nvPr>
        </p:nvSpPr>
        <p:spPr>
          <a:xfrm>
            <a:off x="1617785" y="393895"/>
            <a:ext cx="8343079" cy="1759517"/>
          </a:xfrm>
        </p:spPr>
        <p:txBody>
          <a:bodyPr>
            <a:normAutofit/>
          </a:bodyPr>
          <a:lstStyle/>
          <a:p>
            <a:r>
              <a:rPr lang="en-US" sz="5400" b="1" u="sng" dirty="0">
                <a:latin typeface="+mn-lt"/>
              </a:rPr>
              <a:t>MADE BY:-</a:t>
            </a:r>
            <a:endParaRPr lang="en-IN" sz="5400" b="1" u="sng" dirty="0">
              <a:latin typeface="+mn-lt"/>
            </a:endParaRPr>
          </a:p>
        </p:txBody>
      </p:sp>
      <p:sp>
        <p:nvSpPr>
          <p:cNvPr id="3" name="Content Placeholder 2">
            <a:extLst>
              <a:ext uri="{FF2B5EF4-FFF2-40B4-BE49-F238E27FC236}">
                <a16:creationId xmlns:a16="http://schemas.microsoft.com/office/drawing/2014/main" id="{B2A2B023-A60E-4DC7-A1A9-1578C6EF2DC4}"/>
              </a:ext>
            </a:extLst>
          </p:cNvPr>
          <p:cNvSpPr>
            <a:spLocks noGrp="1"/>
          </p:cNvSpPr>
          <p:nvPr>
            <p:ph idx="1"/>
          </p:nvPr>
        </p:nvSpPr>
        <p:spPr>
          <a:xfrm>
            <a:off x="838200" y="2697822"/>
            <a:ext cx="9853246" cy="4293821"/>
          </a:xfrm>
        </p:spPr>
        <p:txBody>
          <a:bodyPr>
            <a:normAutofit/>
          </a:bodyPr>
          <a:lstStyle/>
          <a:p>
            <a:pPr marL="0" indent="0">
              <a:buNone/>
            </a:pPr>
            <a:r>
              <a:rPr lang="en-US" sz="4000" b="1" u="sng" dirty="0"/>
              <a:t>NAME:- </a:t>
            </a:r>
            <a:r>
              <a:rPr lang="en-US" sz="4000" dirty="0"/>
              <a:t>BALA KRISHNA CHENNAIAH</a:t>
            </a:r>
          </a:p>
          <a:p>
            <a:pPr marL="0" indent="0">
              <a:buNone/>
            </a:pPr>
            <a:r>
              <a:rPr lang="en-US" sz="4000" b="1" u="sng" dirty="0"/>
              <a:t>REGD NO. </a:t>
            </a:r>
            <a:r>
              <a:rPr lang="en-US" sz="4000" dirty="0"/>
              <a:t>:- 121912501006	</a:t>
            </a:r>
          </a:p>
          <a:p>
            <a:pPr marL="0" indent="0">
              <a:buNone/>
            </a:pPr>
            <a:r>
              <a:rPr lang="en-US" sz="4000" b="1" u="sng" dirty="0"/>
              <a:t>CLASS:- </a:t>
            </a:r>
            <a:r>
              <a:rPr lang="en-US" sz="4000" dirty="0"/>
              <a:t>BCA-3/3 – ‘A’</a:t>
            </a:r>
          </a:p>
          <a:p>
            <a:pPr marL="0" indent="0">
              <a:buNone/>
            </a:pPr>
            <a:r>
              <a:rPr lang="en-US" sz="4000" b="1" u="sng" dirty="0"/>
              <a:t>GUIDE NAME:-  </a:t>
            </a:r>
            <a:r>
              <a:rPr lang="en-US" sz="4000" dirty="0"/>
              <a:t>MRS. B SATYA SAI VANI </a:t>
            </a:r>
            <a:endParaRPr lang="en-IN" sz="4000" dirty="0"/>
          </a:p>
        </p:txBody>
      </p:sp>
    </p:spTree>
    <p:extLst>
      <p:ext uri="{BB962C8B-B14F-4D97-AF65-F5344CB8AC3E}">
        <p14:creationId xmlns:p14="http://schemas.microsoft.com/office/powerpoint/2010/main" val="242758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85511-CD5F-4E23-AC02-F9012C05AE1E}"/>
              </a:ext>
            </a:extLst>
          </p:cNvPr>
          <p:cNvSpPr>
            <a:spLocks noGrp="1"/>
          </p:cNvSpPr>
          <p:nvPr>
            <p:ph type="title"/>
          </p:nvPr>
        </p:nvSpPr>
        <p:spPr>
          <a:xfrm>
            <a:off x="1565734" y="1780617"/>
            <a:ext cx="9060532" cy="3016465"/>
          </a:xfrm>
        </p:spPr>
        <p:txBody>
          <a:bodyPr>
            <a:normAutofit/>
          </a:bodyPr>
          <a:lstStyle/>
          <a:p>
            <a:r>
              <a:rPr lang="en-US" sz="5400" b="1" u="sng" dirty="0"/>
              <a:t>REQUIREMENT ANALYSIS DOCUMENT:-</a:t>
            </a:r>
            <a:endParaRPr lang="en-IN" sz="5400" b="1" u="sng" dirty="0"/>
          </a:p>
        </p:txBody>
      </p:sp>
    </p:spTree>
    <p:extLst>
      <p:ext uri="{BB962C8B-B14F-4D97-AF65-F5344CB8AC3E}">
        <p14:creationId xmlns:p14="http://schemas.microsoft.com/office/powerpoint/2010/main" val="365705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895F-B40E-4A27-B972-AF1C6C1B086E}"/>
              </a:ext>
            </a:extLst>
          </p:cNvPr>
          <p:cNvSpPr>
            <a:spLocks noGrp="1"/>
          </p:cNvSpPr>
          <p:nvPr>
            <p:ph type="title"/>
          </p:nvPr>
        </p:nvSpPr>
        <p:spPr>
          <a:xfrm>
            <a:off x="2231136" y="627068"/>
            <a:ext cx="7729728" cy="1188720"/>
          </a:xfrm>
        </p:spPr>
        <p:txBody>
          <a:bodyPr>
            <a:normAutofit/>
          </a:bodyPr>
          <a:lstStyle/>
          <a:p>
            <a:r>
              <a:rPr lang="en-US" sz="4000" b="1" u="sng" dirty="0"/>
              <a:t>1. INTRODUCTION:</a:t>
            </a:r>
            <a:endParaRPr lang="en-IN" sz="4000" b="1" u="sng" dirty="0"/>
          </a:p>
        </p:txBody>
      </p:sp>
      <p:sp>
        <p:nvSpPr>
          <p:cNvPr id="3" name="Content Placeholder 2">
            <a:extLst>
              <a:ext uri="{FF2B5EF4-FFF2-40B4-BE49-F238E27FC236}">
                <a16:creationId xmlns:a16="http://schemas.microsoft.com/office/drawing/2014/main" id="{5ACCD120-C78B-4B30-8C45-2FB3E2E76F92}"/>
              </a:ext>
            </a:extLst>
          </p:cNvPr>
          <p:cNvSpPr>
            <a:spLocks noGrp="1"/>
          </p:cNvSpPr>
          <p:nvPr>
            <p:ph idx="1"/>
          </p:nvPr>
        </p:nvSpPr>
        <p:spPr>
          <a:xfrm>
            <a:off x="717452" y="2293034"/>
            <a:ext cx="10353822" cy="4079631"/>
          </a:xfrm>
        </p:spPr>
        <p:txBody>
          <a:bodyPr>
            <a:normAutofit fontScale="92500" lnSpcReduction="10000"/>
          </a:bodyPr>
          <a:lstStyle/>
          <a:p>
            <a:pPr marL="0" indent="0" algn="l">
              <a:buNone/>
            </a:pPr>
            <a:r>
              <a:rPr lang="en-US" sz="3600" b="0" i="0" dirty="0">
                <a:solidFill>
                  <a:srgbClr val="000000"/>
                </a:solidFill>
                <a:effectLst/>
                <a:latin typeface="ff1"/>
              </a:rPr>
              <a:t>Every organization requires a robust and stable system to </a:t>
            </a:r>
          </a:p>
          <a:p>
            <a:pPr marL="0" indent="0" algn="l">
              <a:buNone/>
            </a:pPr>
            <a:r>
              <a:rPr lang="en-US" sz="3600" b="0" i="0" dirty="0">
                <a:solidFill>
                  <a:srgbClr val="000000"/>
                </a:solidFill>
                <a:effectLst/>
                <a:latin typeface="ff1"/>
              </a:rPr>
              <a:t>record the attendance of their students and every </a:t>
            </a:r>
          </a:p>
          <a:p>
            <a:pPr marL="0" indent="0" algn="l">
              <a:buNone/>
            </a:pPr>
            <a:r>
              <a:rPr lang="en-US" sz="3600" b="0" i="0" dirty="0">
                <a:solidFill>
                  <a:srgbClr val="000000"/>
                </a:solidFill>
                <a:effectLst/>
                <a:latin typeface="ff1"/>
              </a:rPr>
              <a:t>organization have their own method to do so, some are </a:t>
            </a:r>
          </a:p>
          <a:p>
            <a:pPr marL="0" indent="0" algn="l">
              <a:buNone/>
            </a:pPr>
            <a:r>
              <a:rPr lang="en-US" sz="3600" b="0" i="0" dirty="0">
                <a:solidFill>
                  <a:srgbClr val="000000"/>
                </a:solidFill>
                <a:effectLst/>
                <a:latin typeface="ff1"/>
              </a:rPr>
              <a:t>taking attendance manually with a sheet of paper by </a:t>
            </a:r>
          </a:p>
          <a:p>
            <a:pPr marL="0" indent="0" algn="l">
              <a:buNone/>
            </a:pPr>
            <a:r>
              <a:rPr lang="en-US" sz="3600" b="0" i="0" dirty="0">
                <a:solidFill>
                  <a:srgbClr val="000000"/>
                </a:solidFill>
                <a:effectLst/>
                <a:latin typeface="ff1"/>
              </a:rPr>
              <a:t>calling their names during lecture hours and some have </a:t>
            </a:r>
          </a:p>
          <a:p>
            <a:pPr marL="0" indent="0" algn="l">
              <a:buNone/>
            </a:pPr>
            <a:r>
              <a:rPr lang="en-US" sz="3600" b="0" i="0" dirty="0">
                <a:solidFill>
                  <a:srgbClr val="000000"/>
                </a:solidFill>
                <a:effectLst/>
                <a:latin typeface="ff1"/>
              </a:rPr>
              <a:t>adopted biometrics system such as fingerprint, RFID card </a:t>
            </a:r>
          </a:p>
          <a:p>
            <a:pPr marL="0" indent="0" algn="l">
              <a:buNone/>
            </a:pPr>
            <a:r>
              <a:rPr lang="en-US" sz="3600" b="0" i="0" dirty="0">
                <a:solidFill>
                  <a:srgbClr val="000000"/>
                </a:solidFill>
                <a:effectLst/>
                <a:latin typeface="ff1"/>
              </a:rPr>
              <a:t>reader, Iris system to mark the attendance. </a:t>
            </a:r>
          </a:p>
          <a:p>
            <a:pPr marL="0" indent="0">
              <a:buNone/>
            </a:pPr>
            <a:endParaRPr lang="en-IN" sz="3600" dirty="0"/>
          </a:p>
        </p:txBody>
      </p:sp>
    </p:spTree>
    <p:extLst>
      <p:ext uri="{BB962C8B-B14F-4D97-AF65-F5344CB8AC3E}">
        <p14:creationId xmlns:p14="http://schemas.microsoft.com/office/powerpoint/2010/main" val="601457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E37A-2A12-4953-BE8C-176B130E279B}"/>
              </a:ext>
            </a:extLst>
          </p:cNvPr>
          <p:cNvSpPr>
            <a:spLocks noGrp="1"/>
          </p:cNvSpPr>
          <p:nvPr>
            <p:ph type="title"/>
          </p:nvPr>
        </p:nvSpPr>
        <p:spPr/>
        <p:txBody>
          <a:bodyPr/>
          <a:lstStyle/>
          <a:p>
            <a:r>
              <a:rPr lang="en-US"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1.1.PURPOSE of the System</a:t>
            </a:r>
            <a:endParaRPr lang="en-IN" dirty="0"/>
          </a:p>
        </p:txBody>
      </p:sp>
      <p:sp>
        <p:nvSpPr>
          <p:cNvPr id="3" name="Content Placeholder 2">
            <a:extLst>
              <a:ext uri="{FF2B5EF4-FFF2-40B4-BE49-F238E27FC236}">
                <a16:creationId xmlns:a16="http://schemas.microsoft.com/office/drawing/2014/main" id="{E2DE1BF4-1988-4FF0-83BA-61F3B73B57B4}"/>
              </a:ext>
            </a:extLst>
          </p:cNvPr>
          <p:cNvSpPr>
            <a:spLocks noGrp="1"/>
          </p:cNvSpPr>
          <p:nvPr>
            <p:ph idx="1"/>
          </p:nvPr>
        </p:nvSpPr>
        <p:spPr>
          <a:xfrm>
            <a:off x="1111348" y="2502586"/>
            <a:ext cx="9496630" cy="3390722"/>
          </a:xfrm>
        </p:spPr>
        <p:txBody>
          <a:bodyPr>
            <a:normAutofit/>
          </a:bodyPr>
          <a:lstStyle/>
          <a:p>
            <a:r>
              <a:rPr lang="en-US" sz="2800" b="0" i="0" dirty="0">
                <a:solidFill>
                  <a:srgbClr val="202124"/>
                </a:solidFill>
                <a:effectLst/>
                <a:latin typeface="arial" panose="020B0604020202020204" pitchFamily="34" charset="0"/>
              </a:rPr>
              <a:t>Instead of using the conventional methods, this proposed system aims to develop an automated system that records the student's attendance by using facial recognition technology. The main objective of this work is </a:t>
            </a:r>
            <a:r>
              <a:rPr lang="en-US" sz="2800" b="1" i="0" dirty="0">
                <a:solidFill>
                  <a:srgbClr val="202124"/>
                </a:solidFill>
                <a:effectLst/>
                <a:latin typeface="arial" panose="020B0604020202020204" pitchFamily="34" charset="0"/>
              </a:rPr>
              <a:t>to make the attendance marking and management system efficient, time saving, simple and easy</a:t>
            </a:r>
            <a:r>
              <a:rPr lang="en-US" sz="2800" b="0" i="0" dirty="0">
                <a:solidFill>
                  <a:srgbClr val="202124"/>
                </a:solidFill>
                <a:effectLst/>
                <a:latin typeface="arial" panose="020B0604020202020204" pitchFamily="34" charset="0"/>
              </a:rPr>
              <a:t>.</a:t>
            </a:r>
            <a:endParaRPr lang="en-IN" sz="2800" dirty="0">
              <a:solidFill>
                <a:schemeClr val="tx1"/>
              </a:solidFill>
            </a:endParaRPr>
          </a:p>
        </p:txBody>
      </p:sp>
    </p:spTree>
    <p:extLst>
      <p:ext uri="{BB962C8B-B14F-4D97-AF65-F5344CB8AC3E}">
        <p14:creationId xmlns:p14="http://schemas.microsoft.com/office/powerpoint/2010/main" val="1154335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303F9-6DA6-4175-91DC-66589303F8C1}"/>
              </a:ext>
            </a:extLst>
          </p:cNvPr>
          <p:cNvSpPr>
            <a:spLocks noGrp="1"/>
          </p:cNvSpPr>
          <p:nvPr>
            <p:ph type="title"/>
          </p:nvPr>
        </p:nvSpPr>
        <p:spPr>
          <a:xfrm>
            <a:off x="1991985" y="261307"/>
            <a:ext cx="7729728" cy="1188720"/>
          </a:xfrm>
        </p:spPr>
        <p:txBody>
          <a:bodyPr>
            <a:normAutofit fontScale="90000"/>
          </a:bodyPr>
          <a:lstStyle/>
          <a:p>
            <a:r>
              <a:rPr lang="en-US" sz="4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1.2.SCOPE of the System</a:t>
            </a:r>
            <a:br>
              <a:rPr lang="en-US" sz="2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D972D24-0203-4A2C-B722-83487FE9F1DC}"/>
              </a:ext>
            </a:extLst>
          </p:cNvPr>
          <p:cNvSpPr>
            <a:spLocks noGrp="1"/>
          </p:cNvSpPr>
          <p:nvPr>
            <p:ph idx="1"/>
          </p:nvPr>
        </p:nvSpPr>
        <p:spPr>
          <a:xfrm>
            <a:off x="928468" y="2082018"/>
            <a:ext cx="9032396" cy="3658009"/>
          </a:xfrm>
        </p:spPr>
        <p:txBody>
          <a:bodyPr>
            <a:normAutofit/>
          </a:bodyPr>
          <a:lstStyle/>
          <a:p>
            <a:r>
              <a:rPr lang="en-US" sz="3200" dirty="0"/>
              <a:t>The main objective of this project is to offer system that simplify and automate the process of recording and tracking students' attendance through face recognition technology.</a:t>
            </a:r>
          </a:p>
          <a:p>
            <a:r>
              <a:rPr lang="en-US" sz="3200" dirty="0"/>
              <a:t> It is biometric technology to identify or verify a person from a digital image or surveillance video.</a:t>
            </a:r>
            <a:endParaRPr lang="en-IN" sz="3200" dirty="0"/>
          </a:p>
        </p:txBody>
      </p:sp>
    </p:spTree>
    <p:extLst>
      <p:ext uri="{BB962C8B-B14F-4D97-AF65-F5344CB8AC3E}">
        <p14:creationId xmlns:p14="http://schemas.microsoft.com/office/powerpoint/2010/main" val="3664800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13EC-D4C1-47C5-85E4-B0C9F8872DC9}"/>
              </a:ext>
            </a:extLst>
          </p:cNvPr>
          <p:cNvSpPr>
            <a:spLocks noGrp="1"/>
          </p:cNvSpPr>
          <p:nvPr>
            <p:ph type="title"/>
          </p:nvPr>
        </p:nvSpPr>
        <p:spPr>
          <a:xfrm>
            <a:off x="2180492" y="773723"/>
            <a:ext cx="7780372" cy="1379689"/>
          </a:xfrm>
        </p:spPr>
        <p:txBody>
          <a:bodyPr/>
          <a:lstStyle/>
          <a:p>
            <a:r>
              <a:rPr lang="en-US" b="1" dirty="0"/>
              <a:t>1.3.OBJECTIVE AND SUCCESS CRITERIA OF THE SYSTEM</a:t>
            </a:r>
            <a:endParaRPr lang="en-IN" b="1" dirty="0"/>
          </a:p>
        </p:txBody>
      </p:sp>
      <p:sp>
        <p:nvSpPr>
          <p:cNvPr id="3" name="Content Placeholder 2">
            <a:extLst>
              <a:ext uri="{FF2B5EF4-FFF2-40B4-BE49-F238E27FC236}">
                <a16:creationId xmlns:a16="http://schemas.microsoft.com/office/drawing/2014/main" id="{81F2B8E4-689C-4394-9177-7EC0D5117D7F}"/>
              </a:ext>
            </a:extLst>
          </p:cNvPr>
          <p:cNvSpPr>
            <a:spLocks noGrp="1"/>
          </p:cNvSpPr>
          <p:nvPr>
            <p:ph idx="1"/>
          </p:nvPr>
        </p:nvSpPr>
        <p:spPr>
          <a:xfrm>
            <a:off x="1434905" y="2638044"/>
            <a:ext cx="9580097" cy="3101983"/>
          </a:xfrm>
        </p:spPr>
        <p:txBody>
          <a:bodyPr>
            <a:normAutofit/>
          </a:bodyPr>
          <a:lstStyle/>
          <a:p>
            <a:r>
              <a:rPr lang="en-US" sz="2800" dirty="0"/>
              <a:t>Instead of using the conventional methods, this proposed system aims to develop an automated system that records the student's attendance by using facial recognition technology. </a:t>
            </a:r>
          </a:p>
          <a:p>
            <a:r>
              <a:rPr lang="en-US" sz="2800" dirty="0"/>
              <a:t>The main objective of this work is to make the attendance marking and management system efficient, time saving, simple and easy.</a:t>
            </a:r>
          </a:p>
          <a:p>
            <a:pPr marL="0" indent="0">
              <a:buNone/>
            </a:pPr>
            <a:endParaRPr lang="en-IN" sz="2800" dirty="0"/>
          </a:p>
        </p:txBody>
      </p:sp>
    </p:spTree>
    <p:extLst>
      <p:ext uri="{BB962C8B-B14F-4D97-AF65-F5344CB8AC3E}">
        <p14:creationId xmlns:p14="http://schemas.microsoft.com/office/powerpoint/2010/main" val="1254585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8A157-E6AA-414B-8585-4F3EBE36237B}"/>
              </a:ext>
            </a:extLst>
          </p:cNvPr>
          <p:cNvSpPr>
            <a:spLocks noGrp="1"/>
          </p:cNvSpPr>
          <p:nvPr>
            <p:ph type="title"/>
          </p:nvPr>
        </p:nvSpPr>
        <p:spPr/>
        <p:txBody>
          <a:bodyPr/>
          <a:lstStyle/>
          <a:p>
            <a:r>
              <a:rPr lang="en-US" b="1" u="sng" dirty="0"/>
              <a:t>1.4.REFERENCES</a:t>
            </a:r>
            <a:r>
              <a:rPr lang="en-US" dirty="0"/>
              <a:t>:</a:t>
            </a:r>
            <a:endParaRPr lang="en-IN" dirty="0"/>
          </a:p>
        </p:txBody>
      </p:sp>
      <p:sp>
        <p:nvSpPr>
          <p:cNvPr id="3" name="Content Placeholder 2">
            <a:extLst>
              <a:ext uri="{FF2B5EF4-FFF2-40B4-BE49-F238E27FC236}">
                <a16:creationId xmlns:a16="http://schemas.microsoft.com/office/drawing/2014/main" id="{B88A18F9-C355-4DB5-B385-B5E418C22B22}"/>
              </a:ext>
            </a:extLst>
          </p:cNvPr>
          <p:cNvSpPr>
            <a:spLocks noGrp="1"/>
          </p:cNvSpPr>
          <p:nvPr>
            <p:ph idx="1"/>
          </p:nvPr>
        </p:nvSpPr>
        <p:spPr>
          <a:xfrm>
            <a:off x="1139483" y="2638044"/>
            <a:ext cx="9622301" cy="3931568"/>
          </a:xfrm>
        </p:spPr>
        <p:txBody>
          <a:bodyPr>
            <a:normAutofit fontScale="92500" lnSpcReduction="10000"/>
          </a:bodyPr>
          <a:lstStyle/>
          <a:p>
            <a:pPr marL="0" indent="0" algn="l">
              <a:buNone/>
            </a:pPr>
            <a:r>
              <a:rPr lang="en-IN" sz="2000" b="0" i="0" dirty="0">
                <a:solidFill>
                  <a:srgbClr val="000000"/>
                </a:solidFill>
                <a:effectLst/>
                <a:latin typeface="ff1"/>
              </a:rPr>
              <a:t>[1] ttps://www.researchgate.net/publication/326261079_Face_detection_ </a:t>
            </a:r>
          </a:p>
          <a:p>
            <a:pPr marL="0" indent="0" algn="l">
              <a:buNone/>
            </a:pPr>
            <a:r>
              <a:rPr lang="en-IN" sz="2000" b="0" i="0" dirty="0" err="1">
                <a:solidFill>
                  <a:srgbClr val="000000"/>
                </a:solidFill>
                <a:effectLst/>
                <a:latin typeface="ff1"/>
              </a:rPr>
              <a:t>system_for_attendanc</a:t>
            </a:r>
            <a:r>
              <a:rPr lang="en-IN" sz="2000" b="0" i="0" dirty="0" err="1">
                <a:solidFill>
                  <a:srgbClr val="000000"/>
                </a:solidFill>
                <a:effectLst/>
                <a:latin typeface="ff4"/>
              </a:rPr>
              <a:t>e_of_class’_students</a:t>
            </a:r>
            <a:r>
              <a:rPr lang="en-IN" sz="2000" b="0" i="0" dirty="0">
                <a:solidFill>
                  <a:srgbClr val="000000"/>
                </a:solidFill>
                <a:effectLst/>
                <a:latin typeface="ff4"/>
              </a:rPr>
              <a:t> </a:t>
            </a:r>
          </a:p>
          <a:p>
            <a:pPr marL="0" indent="0" algn="l">
              <a:buNone/>
            </a:pPr>
            <a:endParaRPr lang="en-IN" sz="2000" b="0" i="0" dirty="0">
              <a:solidFill>
                <a:srgbClr val="000000"/>
              </a:solidFill>
              <a:effectLst/>
              <a:latin typeface="ff1"/>
            </a:endParaRPr>
          </a:p>
          <a:p>
            <a:pPr marL="0" indent="0" algn="l">
              <a:buNone/>
            </a:pPr>
            <a:r>
              <a:rPr lang="en-IN" sz="2000" b="0" i="0" dirty="0">
                <a:solidFill>
                  <a:srgbClr val="000000"/>
                </a:solidFill>
                <a:effectLst/>
                <a:latin typeface="ff1"/>
              </a:rPr>
              <a:t>[2] </a:t>
            </a:r>
            <a:r>
              <a:rPr lang="en-IN" sz="2000" b="0" i="0" dirty="0" err="1">
                <a:solidFill>
                  <a:srgbClr val="000000"/>
                </a:solidFill>
                <a:effectLst/>
                <a:latin typeface="ff1"/>
              </a:rPr>
              <a:t>Hapani</a:t>
            </a:r>
            <a:r>
              <a:rPr lang="en-IN" sz="2000" b="0" i="0" dirty="0">
                <a:solidFill>
                  <a:srgbClr val="000000"/>
                </a:solidFill>
                <a:effectLst/>
                <a:latin typeface="ff1"/>
              </a:rPr>
              <a:t>, Smit, et al. "Automated Attendance System Using Image </a:t>
            </a:r>
          </a:p>
          <a:p>
            <a:pPr marL="0" indent="0" algn="l">
              <a:buNone/>
            </a:pPr>
            <a:r>
              <a:rPr lang="en-IN" sz="2000" b="0" i="0" dirty="0">
                <a:solidFill>
                  <a:srgbClr val="000000"/>
                </a:solidFill>
                <a:effectLst/>
                <a:latin typeface="ff1"/>
              </a:rPr>
              <a:t>Processing." 2018 Fourth International Conference on Computing </a:t>
            </a:r>
          </a:p>
          <a:p>
            <a:pPr marL="0" indent="0" algn="l">
              <a:buNone/>
            </a:pPr>
            <a:r>
              <a:rPr lang="en-IN" sz="2000" b="0" i="0" dirty="0">
                <a:solidFill>
                  <a:srgbClr val="000000"/>
                </a:solidFill>
                <a:effectLst/>
                <a:latin typeface="ff1"/>
              </a:rPr>
              <a:t>Communication Control and Automation (ICCUBEA). IEEE, 2018.</a:t>
            </a:r>
          </a:p>
          <a:p>
            <a:pPr marL="0" indent="0" algn="l">
              <a:buNone/>
            </a:pPr>
            <a:r>
              <a:rPr lang="en-IN" sz="2000" b="0" i="0" dirty="0">
                <a:solidFill>
                  <a:srgbClr val="000000"/>
                </a:solidFill>
                <a:effectLst/>
                <a:latin typeface="ff1"/>
              </a:rPr>
              <a:t> </a:t>
            </a:r>
          </a:p>
          <a:p>
            <a:pPr marL="0" indent="0" algn="l">
              <a:buNone/>
            </a:pPr>
            <a:r>
              <a:rPr lang="en-IN" sz="2000" b="0" i="0" dirty="0">
                <a:solidFill>
                  <a:srgbClr val="000000"/>
                </a:solidFill>
                <a:effectLst/>
                <a:latin typeface="ff1"/>
              </a:rPr>
              <a:t>[3] Akbar, Md Sajid, et al. "Face Recognition and RFID Verified </a:t>
            </a:r>
          </a:p>
          <a:p>
            <a:pPr marL="0" indent="0" algn="l">
              <a:buNone/>
            </a:pPr>
            <a:r>
              <a:rPr lang="en-IN" sz="2000" b="0" i="0" dirty="0">
                <a:solidFill>
                  <a:srgbClr val="000000"/>
                </a:solidFill>
                <a:effectLst/>
                <a:latin typeface="ff1"/>
              </a:rPr>
              <a:t>Attendance System." 2018 International Conference on Computing, </a:t>
            </a:r>
          </a:p>
          <a:p>
            <a:pPr marL="0" indent="0" algn="l">
              <a:buNone/>
            </a:pPr>
            <a:r>
              <a:rPr lang="en-IN" sz="2000" b="0" i="0" dirty="0">
                <a:solidFill>
                  <a:srgbClr val="000000"/>
                </a:solidFill>
                <a:effectLst/>
                <a:latin typeface="ff1"/>
              </a:rPr>
              <a:t>Electronics &amp; Communications Engineering (</a:t>
            </a:r>
            <a:r>
              <a:rPr lang="en-IN" sz="2000" b="0" i="0" dirty="0" err="1">
                <a:solidFill>
                  <a:srgbClr val="000000"/>
                </a:solidFill>
                <a:effectLst/>
                <a:latin typeface="ff1"/>
              </a:rPr>
              <a:t>iCCECE</a:t>
            </a:r>
            <a:r>
              <a:rPr lang="en-IN" sz="2000" b="0" i="0" dirty="0">
                <a:solidFill>
                  <a:srgbClr val="000000"/>
                </a:solidFill>
                <a:effectLst/>
                <a:latin typeface="ff1"/>
              </a:rPr>
              <a:t>). IEEE, 2018.</a:t>
            </a:r>
          </a:p>
        </p:txBody>
      </p:sp>
    </p:spTree>
    <p:extLst>
      <p:ext uri="{BB962C8B-B14F-4D97-AF65-F5344CB8AC3E}">
        <p14:creationId xmlns:p14="http://schemas.microsoft.com/office/powerpoint/2010/main" val="31325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B5CBB-6281-4BCB-B2A8-31EF9706CCB1}"/>
              </a:ext>
            </a:extLst>
          </p:cNvPr>
          <p:cNvSpPr>
            <a:spLocks noGrp="1"/>
          </p:cNvSpPr>
          <p:nvPr>
            <p:ph idx="1"/>
          </p:nvPr>
        </p:nvSpPr>
        <p:spPr>
          <a:xfrm>
            <a:off x="1012875" y="422031"/>
            <a:ext cx="9467556" cy="5753685"/>
          </a:xfrm>
        </p:spPr>
        <p:txBody>
          <a:bodyPr>
            <a:noAutofit/>
          </a:bodyPr>
          <a:lstStyle/>
          <a:p>
            <a:pPr marL="0" indent="0">
              <a:buNone/>
            </a:pPr>
            <a:r>
              <a:rPr lang="en-IN" sz="2000" b="0" i="0" dirty="0">
                <a:solidFill>
                  <a:srgbClr val="000000"/>
                </a:solidFill>
                <a:effectLst/>
                <a:latin typeface="ff1"/>
              </a:rPr>
              <a:t>[4] </a:t>
            </a:r>
            <a:r>
              <a:rPr lang="en-IN" sz="2000" b="0" i="0" dirty="0" err="1">
                <a:solidFill>
                  <a:srgbClr val="000000"/>
                </a:solidFill>
                <a:effectLst/>
                <a:latin typeface="ff1"/>
              </a:rPr>
              <a:t>Okokpujie</a:t>
            </a:r>
            <a:r>
              <a:rPr lang="en-IN" sz="2000" b="0" i="0" dirty="0">
                <a:solidFill>
                  <a:srgbClr val="000000"/>
                </a:solidFill>
                <a:effectLst/>
                <a:latin typeface="ff1"/>
              </a:rPr>
              <a:t>, Kennedy O., et al. "Design and implementation of a </a:t>
            </a:r>
          </a:p>
          <a:p>
            <a:pPr marL="0" indent="0">
              <a:buNone/>
            </a:pPr>
            <a:r>
              <a:rPr lang="en-IN" sz="2000" b="0" i="0" dirty="0">
                <a:solidFill>
                  <a:srgbClr val="000000"/>
                </a:solidFill>
                <a:effectLst/>
                <a:latin typeface="ff1"/>
              </a:rPr>
              <a:t>student attendance system using iris biometric recognition." 2017 </a:t>
            </a:r>
          </a:p>
          <a:p>
            <a:pPr marL="0" indent="0">
              <a:buNone/>
            </a:pPr>
            <a:r>
              <a:rPr lang="en-IN" sz="2000" b="0" i="0" dirty="0">
                <a:solidFill>
                  <a:srgbClr val="000000"/>
                </a:solidFill>
                <a:effectLst/>
                <a:latin typeface="ff1"/>
              </a:rPr>
              <a:t>International Conference on Computational Science and </a:t>
            </a:r>
          </a:p>
          <a:p>
            <a:pPr marL="0" indent="0">
              <a:buNone/>
            </a:pPr>
            <a:r>
              <a:rPr lang="en-IN" sz="2000" b="0" i="0" dirty="0">
                <a:solidFill>
                  <a:srgbClr val="000000"/>
                </a:solidFill>
                <a:effectLst/>
                <a:latin typeface="ff1"/>
              </a:rPr>
              <a:t>Computational Intelligence (CSCI). IEEE, 2017. </a:t>
            </a:r>
          </a:p>
          <a:p>
            <a:pPr marL="0" indent="0">
              <a:buNone/>
            </a:pPr>
            <a:endParaRPr lang="en-IN" sz="2000" b="0" i="0" dirty="0">
              <a:solidFill>
                <a:srgbClr val="000000"/>
              </a:solidFill>
              <a:effectLst/>
              <a:latin typeface="ff1"/>
            </a:endParaRPr>
          </a:p>
          <a:p>
            <a:pPr marL="0" indent="0">
              <a:buNone/>
            </a:pPr>
            <a:r>
              <a:rPr lang="en-IN" sz="2000" b="0" i="0" dirty="0">
                <a:solidFill>
                  <a:srgbClr val="000000"/>
                </a:solidFill>
                <a:effectLst/>
                <a:latin typeface="ff1"/>
              </a:rPr>
              <a:t>[5] Rathod, </a:t>
            </a:r>
            <a:r>
              <a:rPr lang="en-IN" sz="2000" b="0" i="0" dirty="0" err="1">
                <a:solidFill>
                  <a:srgbClr val="000000"/>
                </a:solidFill>
                <a:effectLst/>
                <a:latin typeface="ff1"/>
              </a:rPr>
              <a:t>Hemantkumar</a:t>
            </a:r>
            <a:r>
              <a:rPr lang="en-IN" sz="2000" b="0" i="0" dirty="0">
                <a:solidFill>
                  <a:srgbClr val="000000"/>
                </a:solidFill>
                <a:effectLst/>
                <a:latin typeface="ff1"/>
              </a:rPr>
              <a:t>, et al. "Automated attendance system using </a:t>
            </a:r>
          </a:p>
          <a:p>
            <a:pPr marL="0" indent="0">
              <a:buNone/>
            </a:pPr>
            <a:r>
              <a:rPr lang="en-IN" sz="2000" b="0" i="0" dirty="0">
                <a:solidFill>
                  <a:srgbClr val="000000"/>
                </a:solidFill>
                <a:effectLst/>
                <a:latin typeface="ff1"/>
              </a:rPr>
              <a:t>machine learning approach." 2017 International Conference on </a:t>
            </a:r>
          </a:p>
          <a:p>
            <a:pPr marL="0" indent="0">
              <a:buNone/>
            </a:pPr>
            <a:r>
              <a:rPr lang="en-IN" sz="2000" b="0" i="0" dirty="0">
                <a:solidFill>
                  <a:srgbClr val="000000"/>
                </a:solidFill>
                <a:effectLst/>
                <a:latin typeface="ff1"/>
              </a:rPr>
              <a:t>Nascent Technologies in Engineering (ICNTE). IEEE, 2017. </a:t>
            </a:r>
          </a:p>
          <a:p>
            <a:pPr marL="0" indent="0">
              <a:buNone/>
            </a:pPr>
            <a:endParaRPr lang="en-IN" sz="2000" b="0" i="0" dirty="0">
              <a:solidFill>
                <a:srgbClr val="000000"/>
              </a:solidFill>
              <a:effectLst/>
              <a:latin typeface="ff1"/>
            </a:endParaRPr>
          </a:p>
          <a:p>
            <a:pPr marL="0" indent="0">
              <a:buNone/>
            </a:pPr>
            <a:r>
              <a:rPr lang="en-IN" sz="2000" b="0" i="0" dirty="0">
                <a:solidFill>
                  <a:srgbClr val="000000"/>
                </a:solidFill>
                <a:effectLst/>
                <a:latin typeface="ff1"/>
              </a:rPr>
              <a:t>[6] </a:t>
            </a:r>
            <a:r>
              <a:rPr lang="en-IN" sz="2000" b="0" i="0" dirty="0" err="1">
                <a:solidFill>
                  <a:srgbClr val="000000"/>
                </a:solidFill>
                <a:effectLst/>
                <a:latin typeface="ff1"/>
              </a:rPr>
              <a:t>Siswanto</a:t>
            </a:r>
            <a:r>
              <a:rPr lang="en-IN" sz="2000" b="0" i="0" dirty="0">
                <a:solidFill>
                  <a:srgbClr val="000000"/>
                </a:solidFill>
                <a:effectLst/>
                <a:latin typeface="ff1"/>
              </a:rPr>
              <a:t>, Adrian </a:t>
            </a:r>
            <a:r>
              <a:rPr lang="en-IN" sz="2000" b="0" i="0" dirty="0" err="1">
                <a:solidFill>
                  <a:srgbClr val="000000"/>
                </a:solidFill>
                <a:effectLst/>
                <a:latin typeface="ff1"/>
              </a:rPr>
              <a:t>Rhesa</a:t>
            </a:r>
            <a:r>
              <a:rPr lang="en-IN" sz="2000" b="0" i="0" dirty="0">
                <a:solidFill>
                  <a:srgbClr val="000000"/>
                </a:solidFill>
                <a:effectLst/>
                <a:latin typeface="ff1"/>
              </a:rPr>
              <a:t> </a:t>
            </a:r>
            <a:r>
              <a:rPr lang="en-IN" sz="2000" b="0" i="0" dirty="0" err="1">
                <a:solidFill>
                  <a:srgbClr val="000000"/>
                </a:solidFill>
                <a:effectLst/>
                <a:latin typeface="ff1"/>
              </a:rPr>
              <a:t>Septian</a:t>
            </a:r>
            <a:r>
              <a:rPr lang="en-IN" sz="2000" b="0" i="0" dirty="0">
                <a:solidFill>
                  <a:srgbClr val="000000"/>
                </a:solidFill>
                <a:effectLst/>
                <a:latin typeface="ff1"/>
              </a:rPr>
              <a:t>, </a:t>
            </a:r>
            <a:r>
              <a:rPr lang="en-IN" sz="2000" b="0" i="0" dirty="0" err="1">
                <a:solidFill>
                  <a:srgbClr val="000000"/>
                </a:solidFill>
                <a:effectLst/>
                <a:latin typeface="ff1"/>
              </a:rPr>
              <a:t>Anto</a:t>
            </a:r>
            <a:r>
              <a:rPr lang="en-IN" sz="2000" b="0" i="0" dirty="0">
                <a:solidFill>
                  <a:srgbClr val="000000"/>
                </a:solidFill>
                <a:effectLst/>
                <a:latin typeface="ff1"/>
              </a:rPr>
              <a:t> </a:t>
            </a:r>
            <a:r>
              <a:rPr lang="en-IN" sz="2000" b="0" i="0" dirty="0" err="1">
                <a:solidFill>
                  <a:srgbClr val="000000"/>
                </a:solidFill>
                <a:effectLst/>
                <a:latin typeface="ff1"/>
              </a:rPr>
              <a:t>Satriyo</a:t>
            </a:r>
            <a:r>
              <a:rPr lang="en-IN" sz="2000" b="0" i="0" dirty="0">
                <a:solidFill>
                  <a:srgbClr val="000000"/>
                </a:solidFill>
                <a:effectLst/>
                <a:latin typeface="ff1"/>
              </a:rPr>
              <a:t> Nugroho, and </a:t>
            </a:r>
          </a:p>
          <a:p>
            <a:pPr marL="0" indent="0">
              <a:buNone/>
            </a:pPr>
            <a:r>
              <a:rPr lang="en-IN" sz="2000" b="0" i="0" dirty="0" err="1">
                <a:solidFill>
                  <a:srgbClr val="000000"/>
                </a:solidFill>
                <a:effectLst/>
                <a:latin typeface="ff1"/>
              </a:rPr>
              <a:t>Maulahikmah</a:t>
            </a:r>
            <a:r>
              <a:rPr lang="en-IN" sz="2000" b="0" i="0" dirty="0">
                <a:solidFill>
                  <a:srgbClr val="000000"/>
                </a:solidFill>
                <a:effectLst/>
                <a:latin typeface="ff1"/>
              </a:rPr>
              <a:t> </a:t>
            </a:r>
            <a:r>
              <a:rPr lang="en-IN" sz="2000" b="0" i="0" dirty="0" err="1">
                <a:solidFill>
                  <a:srgbClr val="000000"/>
                </a:solidFill>
                <a:effectLst/>
                <a:latin typeface="ff1"/>
              </a:rPr>
              <a:t>Galinium</a:t>
            </a:r>
            <a:r>
              <a:rPr lang="en-IN" sz="2000" b="0" i="0" dirty="0">
                <a:solidFill>
                  <a:srgbClr val="000000"/>
                </a:solidFill>
                <a:effectLst/>
                <a:latin typeface="ff1"/>
              </a:rPr>
              <a:t>. "Implementation of face recognition </a:t>
            </a:r>
          </a:p>
          <a:p>
            <a:pPr marL="0" indent="0">
              <a:buNone/>
            </a:pPr>
            <a:r>
              <a:rPr lang="en-IN" sz="2000" b="0" i="0" dirty="0">
                <a:solidFill>
                  <a:srgbClr val="000000"/>
                </a:solidFill>
                <a:effectLst/>
                <a:latin typeface="ff1"/>
              </a:rPr>
              <a:t>algorithm for biometrics based time attendance system." 2014 </a:t>
            </a:r>
          </a:p>
          <a:p>
            <a:pPr marL="0" indent="0">
              <a:buNone/>
            </a:pPr>
            <a:r>
              <a:rPr lang="en-IN" sz="2000" b="0" i="0" dirty="0">
                <a:solidFill>
                  <a:srgbClr val="000000"/>
                </a:solidFill>
                <a:effectLst/>
                <a:latin typeface="ff1"/>
              </a:rPr>
              <a:t>International Conference on ICT For Smart Society (ICISS). IEEE, </a:t>
            </a:r>
          </a:p>
          <a:p>
            <a:pPr marL="0" indent="0">
              <a:buNone/>
            </a:pPr>
            <a:r>
              <a:rPr lang="en-IN" sz="2000" b="0" i="0" dirty="0">
                <a:solidFill>
                  <a:srgbClr val="000000"/>
                </a:solidFill>
                <a:effectLst/>
                <a:latin typeface="ff1"/>
              </a:rPr>
              <a:t>2014.</a:t>
            </a:r>
          </a:p>
        </p:txBody>
      </p:sp>
    </p:spTree>
    <p:extLst>
      <p:ext uri="{BB962C8B-B14F-4D97-AF65-F5344CB8AC3E}">
        <p14:creationId xmlns:p14="http://schemas.microsoft.com/office/powerpoint/2010/main" val="1849872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543BB6-84B4-4558-81C7-FD4EA20EE166}"/>
              </a:ext>
            </a:extLst>
          </p:cNvPr>
          <p:cNvSpPr>
            <a:spLocks noGrp="1"/>
          </p:cNvSpPr>
          <p:nvPr>
            <p:ph idx="1"/>
          </p:nvPr>
        </p:nvSpPr>
        <p:spPr>
          <a:xfrm>
            <a:off x="590842" y="182880"/>
            <a:ext cx="10649243" cy="6372665"/>
          </a:xfrm>
        </p:spPr>
        <p:txBody>
          <a:bodyPr>
            <a:normAutofit/>
          </a:bodyPr>
          <a:lstStyle/>
          <a:p>
            <a:pPr marL="0" indent="0" algn="l">
              <a:buNone/>
            </a:pPr>
            <a:r>
              <a:rPr lang="en-IN" sz="2000" b="0" i="0" dirty="0">
                <a:solidFill>
                  <a:srgbClr val="000000"/>
                </a:solidFill>
                <a:effectLst/>
                <a:latin typeface="ff1"/>
              </a:rPr>
              <a:t>[7] Lukas, Samuel, et al. "Student attendance system in classroom using </a:t>
            </a:r>
          </a:p>
          <a:p>
            <a:pPr marL="0" indent="0" algn="l">
              <a:buNone/>
            </a:pPr>
            <a:r>
              <a:rPr lang="en-IN" sz="2000" b="0" i="0" dirty="0">
                <a:solidFill>
                  <a:srgbClr val="000000"/>
                </a:solidFill>
                <a:effectLst/>
                <a:latin typeface="ff1"/>
              </a:rPr>
              <a:t>face recognition technique." 2016 International Conference on </a:t>
            </a:r>
          </a:p>
          <a:p>
            <a:pPr marL="0" indent="0" algn="l">
              <a:buNone/>
            </a:pPr>
            <a:r>
              <a:rPr lang="en-IN" sz="2000" b="0" i="0" dirty="0">
                <a:solidFill>
                  <a:srgbClr val="000000"/>
                </a:solidFill>
                <a:effectLst/>
                <a:latin typeface="ff1"/>
              </a:rPr>
              <a:t>Information and Communication Technology Convergence (ICTC). </a:t>
            </a:r>
          </a:p>
          <a:p>
            <a:pPr marL="0" indent="0" algn="l">
              <a:buNone/>
            </a:pPr>
            <a:r>
              <a:rPr lang="en-IN" sz="2000" b="0" i="0" dirty="0">
                <a:solidFill>
                  <a:srgbClr val="000000"/>
                </a:solidFill>
                <a:effectLst/>
                <a:latin typeface="ff1"/>
              </a:rPr>
              <a:t>IEEE, 2016. </a:t>
            </a:r>
          </a:p>
          <a:p>
            <a:pPr marL="0" indent="0" algn="l">
              <a:buNone/>
            </a:pPr>
            <a:endParaRPr lang="en-IN" sz="2000" b="0" i="0" dirty="0">
              <a:solidFill>
                <a:srgbClr val="000000"/>
              </a:solidFill>
              <a:effectLst/>
              <a:latin typeface="ff1"/>
            </a:endParaRPr>
          </a:p>
          <a:p>
            <a:pPr marL="0" indent="0" algn="l">
              <a:buNone/>
            </a:pPr>
            <a:r>
              <a:rPr lang="en-IN" sz="2000" b="0" i="0" dirty="0">
                <a:solidFill>
                  <a:srgbClr val="000000"/>
                </a:solidFill>
                <a:effectLst/>
                <a:latin typeface="ff1"/>
              </a:rPr>
              <a:t>[8] https://becominghuman.ai/face-detection-using-opencv-with-haar-</a:t>
            </a:r>
          </a:p>
          <a:p>
            <a:pPr marL="0" indent="0" algn="l">
              <a:buNone/>
            </a:pPr>
            <a:r>
              <a:rPr lang="en-IN" sz="2000" b="0" i="0" dirty="0">
                <a:solidFill>
                  <a:srgbClr val="000000"/>
                </a:solidFill>
                <a:effectLst/>
                <a:latin typeface="ff1"/>
              </a:rPr>
              <a:t>cascade-classifiers-941dbb25177 </a:t>
            </a:r>
          </a:p>
          <a:p>
            <a:pPr marL="0" indent="0" algn="l">
              <a:buNone/>
            </a:pPr>
            <a:endParaRPr lang="en-IN" sz="2000" b="0" i="0" dirty="0">
              <a:solidFill>
                <a:srgbClr val="000000"/>
              </a:solidFill>
              <a:effectLst/>
              <a:latin typeface="ff1"/>
            </a:endParaRPr>
          </a:p>
          <a:p>
            <a:pPr marL="0" indent="0" algn="l">
              <a:buNone/>
            </a:pPr>
            <a:r>
              <a:rPr lang="en-IN" sz="2000" b="0" i="0" dirty="0">
                <a:solidFill>
                  <a:srgbClr val="000000"/>
                </a:solidFill>
                <a:effectLst/>
                <a:latin typeface="ff1"/>
              </a:rPr>
              <a:t>[9] https://www.superdatascience.com/blogs/opencv-face-recognition</a:t>
            </a:r>
          </a:p>
          <a:p>
            <a:pPr marL="0" indent="0" algn="l">
              <a:buNone/>
            </a:pPr>
            <a:r>
              <a:rPr lang="en-IN" sz="2000" b="0" i="0" dirty="0">
                <a:solidFill>
                  <a:srgbClr val="000000"/>
                </a:solidFill>
                <a:effectLst/>
                <a:latin typeface="ff1"/>
              </a:rPr>
              <a:t> </a:t>
            </a:r>
          </a:p>
          <a:p>
            <a:pPr marL="0" indent="0" algn="l">
              <a:buNone/>
            </a:pPr>
            <a:r>
              <a:rPr lang="en-IN" sz="2000" b="0" i="0" dirty="0">
                <a:solidFill>
                  <a:srgbClr val="000000"/>
                </a:solidFill>
                <a:effectLst/>
                <a:latin typeface="ff1"/>
              </a:rPr>
              <a:t>[10] Salim, Omar Abdul </a:t>
            </a:r>
            <a:r>
              <a:rPr lang="en-IN" sz="2000" b="0" i="0" dirty="0" err="1">
                <a:solidFill>
                  <a:srgbClr val="000000"/>
                </a:solidFill>
                <a:effectLst/>
                <a:latin typeface="ff1"/>
              </a:rPr>
              <a:t>Rhman</a:t>
            </a:r>
            <a:r>
              <a:rPr lang="en-IN" sz="2000" b="0" i="0" dirty="0">
                <a:solidFill>
                  <a:srgbClr val="000000"/>
                </a:solidFill>
                <a:effectLst/>
                <a:latin typeface="ff1"/>
              </a:rPr>
              <a:t>, </a:t>
            </a:r>
            <a:r>
              <a:rPr lang="en-IN" sz="2000" b="0" i="0" dirty="0" err="1">
                <a:solidFill>
                  <a:srgbClr val="000000"/>
                </a:solidFill>
                <a:effectLst/>
                <a:latin typeface="ff1"/>
              </a:rPr>
              <a:t>Rashidah</a:t>
            </a:r>
            <a:r>
              <a:rPr lang="en-IN" sz="2000" b="0" i="0" dirty="0">
                <a:solidFill>
                  <a:srgbClr val="000000"/>
                </a:solidFill>
                <a:effectLst/>
                <a:latin typeface="ff1"/>
              </a:rPr>
              <a:t> Funke Olanrewaju, and </a:t>
            </a:r>
            <a:r>
              <a:rPr lang="en-IN" sz="2000" b="0" i="0" dirty="0" err="1">
                <a:solidFill>
                  <a:srgbClr val="000000"/>
                </a:solidFill>
                <a:effectLst/>
                <a:latin typeface="ff1"/>
              </a:rPr>
              <a:t>Wasiu</a:t>
            </a:r>
            <a:r>
              <a:rPr lang="en-IN" sz="2000" b="0" i="0" dirty="0">
                <a:solidFill>
                  <a:srgbClr val="000000"/>
                </a:solidFill>
                <a:effectLst/>
                <a:latin typeface="ff1"/>
              </a:rPr>
              <a:t> </a:t>
            </a:r>
          </a:p>
          <a:p>
            <a:pPr marL="0" indent="0" algn="l">
              <a:buNone/>
            </a:pPr>
            <a:r>
              <a:rPr lang="en-IN" sz="2000" b="0" i="0" dirty="0">
                <a:solidFill>
                  <a:srgbClr val="000000"/>
                </a:solidFill>
                <a:effectLst/>
                <a:latin typeface="ff1"/>
              </a:rPr>
              <a:t>Adebayo Balogun. "Class attendance management system using face </a:t>
            </a:r>
          </a:p>
          <a:p>
            <a:pPr marL="0" indent="0" algn="l">
              <a:buNone/>
            </a:pPr>
            <a:r>
              <a:rPr lang="en-IN" sz="2000" b="0" i="0" dirty="0">
                <a:solidFill>
                  <a:srgbClr val="000000"/>
                </a:solidFill>
                <a:effectLst/>
                <a:latin typeface="ff1"/>
              </a:rPr>
              <a:t>recognition." 2018 7th International Conference on Computer and </a:t>
            </a:r>
          </a:p>
          <a:p>
            <a:pPr marL="0" indent="0" algn="l">
              <a:buNone/>
            </a:pPr>
            <a:r>
              <a:rPr lang="en-IN" sz="2000" b="0" i="0" dirty="0">
                <a:solidFill>
                  <a:srgbClr val="000000"/>
                </a:solidFill>
                <a:effectLst/>
                <a:latin typeface="ff1"/>
              </a:rPr>
              <a:t>Communication Engineering (ICCCE). IEEE, 2018.</a:t>
            </a:r>
          </a:p>
          <a:p>
            <a:pPr marL="0" indent="0">
              <a:buNone/>
            </a:pPr>
            <a:endParaRPr lang="en-IN" sz="2000" dirty="0"/>
          </a:p>
        </p:txBody>
      </p:sp>
    </p:spTree>
    <p:extLst>
      <p:ext uri="{BB962C8B-B14F-4D97-AF65-F5344CB8AC3E}">
        <p14:creationId xmlns:p14="http://schemas.microsoft.com/office/powerpoint/2010/main" val="3492351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D7F7-47FB-429B-8A0A-4E9AA1A0DD96}"/>
              </a:ext>
            </a:extLst>
          </p:cNvPr>
          <p:cNvSpPr>
            <a:spLocks noGrp="1"/>
          </p:cNvSpPr>
          <p:nvPr>
            <p:ph type="title"/>
          </p:nvPr>
        </p:nvSpPr>
        <p:spPr>
          <a:xfrm>
            <a:off x="2261615" y="271389"/>
            <a:ext cx="7729728" cy="1188720"/>
          </a:xfrm>
        </p:spPr>
        <p:txBody>
          <a:bodyPr>
            <a:normAutofit/>
          </a:bodyPr>
          <a:lstStyle/>
          <a:p>
            <a:r>
              <a:rPr lang="en-US" sz="3600" b="1" u="sng" dirty="0"/>
              <a:t>2.CURRENT SYSTEM:</a:t>
            </a:r>
            <a:endParaRPr lang="en-IN" sz="3600" b="1" u="sng" dirty="0"/>
          </a:p>
        </p:txBody>
      </p:sp>
      <p:sp>
        <p:nvSpPr>
          <p:cNvPr id="3" name="Content Placeholder 2">
            <a:extLst>
              <a:ext uri="{FF2B5EF4-FFF2-40B4-BE49-F238E27FC236}">
                <a16:creationId xmlns:a16="http://schemas.microsoft.com/office/drawing/2014/main" id="{4293BB58-2709-43DC-B58A-CA7A559288CD}"/>
              </a:ext>
            </a:extLst>
          </p:cNvPr>
          <p:cNvSpPr>
            <a:spLocks noGrp="1"/>
          </p:cNvSpPr>
          <p:nvPr>
            <p:ph idx="1"/>
          </p:nvPr>
        </p:nvSpPr>
        <p:spPr>
          <a:xfrm>
            <a:off x="222737" y="1758462"/>
            <a:ext cx="11746525" cy="3981157"/>
          </a:xfrm>
        </p:spPr>
        <p:txBody>
          <a:bodyPr>
            <a:normAutofit/>
          </a:bodyPr>
          <a:lstStyle/>
          <a:p>
            <a:pPr marL="0" indent="0">
              <a:buNone/>
            </a:pPr>
            <a:r>
              <a:rPr lang="en-US" sz="2800" dirty="0"/>
              <a:t>Traditional attendance marking techniques </a:t>
            </a:r>
            <a:r>
              <a:rPr lang="en-US" sz="2800" dirty="0" err="1"/>
              <a:t>i.e</a:t>
            </a:r>
            <a:r>
              <a:rPr lang="en-US" sz="2800" dirty="0"/>
              <a:t>, pen and paper or signing attendance sheets are easy to bypass and trick as giving proxies or false signatures is a common practice among students nowadays, students take an unfair advantage of this at most times. But a facial recognition system is unassailable and cannot be fooled as each person has a set of unique and individual features common to that person and cannot be replicated or changed, it all comedown to one simple truth that is, unless you are physically present in the lecture your attendance will not get marked.</a:t>
            </a:r>
            <a:endParaRPr lang="en-IN" sz="2800" dirty="0"/>
          </a:p>
        </p:txBody>
      </p:sp>
      <p:sp>
        <p:nvSpPr>
          <p:cNvPr id="4" name="AutoShape 2" descr="Teacher taking notes">
            <a:extLst>
              <a:ext uri="{FF2B5EF4-FFF2-40B4-BE49-F238E27FC236}">
                <a16:creationId xmlns:a16="http://schemas.microsoft.com/office/drawing/2014/main" id="{19302A7F-C765-45E1-9016-F926977ECDF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020403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9102C-A4CE-4B6A-BA66-89F32C6E726B}"/>
              </a:ext>
            </a:extLst>
          </p:cNvPr>
          <p:cNvSpPr>
            <a:spLocks noGrp="1"/>
          </p:cNvSpPr>
          <p:nvPr>
            <p:ph type="title"/>
          </p:nvPr>
        </p:nvSpPr>
        <p:spPr/>
        <p:txBody>
          <a:bodyPr>
            <a:normAutofit/>
          </a:bodyPr>
          <a:lstStyle/>
          <a:p>
            <a:r>
              <a:rPr lang="en-US" sz="3200" b="1" dirty="0"/>
              <a:t>3.PROPOSED SYSTEM:</a:t>
            </a:r>
            <a:endParaRPr lang="en-IN" sz="3200" b="1" dirty="0"/>
          </a:p>
        </p:txBody>
      </p:sp>
      <p:sp>
        <p:nvSpPr>
          <p:cNvPr id="3" name="Content Placeholder 2">
            <a:extLst>
              <a:ext uri="{FF2B5EF4-FFF2-40B4-BE49-F238E27FC236}">
                <a16:creationId xmlns:a16="http://schemas.microsoft.com/office/drawing/2014/main" id="{C8CBF3FF-6822-40C4-9496-EE2963327970}"/>
              </a:ext>
            </a:extLst>
          </p:cNvPr>
          <p:cNvSpPr>
            <a:spLocks noGrp="1"/>
          </p:cNvSpPr>
          <p:nvPr>
            <p:ph idx="1"/>
          </p:nvPr>
        </p:nvSpPr>
        <p:spPr>
          <a:xfrm>
            <a:off x="844594" y="2407643"/>
            <a:ext cx="10502811" cy="3485665"/>
          </a:xfrm>
        </p:spPr>
        <p:txBody>
          <a:bodyPr>
            <a:normAutofit fontScale="92500" lnSpcReduction="20000"/>
          </a:bodyPr>
          <a:lstStyle/>
          <a:p>
            <a:r>
              <a:rPr lang="en-US" sz="2800" dirty="0"/>
              <a:t>In the proposed system, initially all the students will be registered in the system using name and ID and after that there  multiple face images are collected using a camera and are Stored in a folder(database).  </a:t>
            </a:r>
          </a:p>
          <a:p>
            <a:r>
              <a:rPr lang="en-US" sz="2800" dirty="0"/>
              <a:t>And after that registered student can give attendance by standing in front of the camera.  </a:t>
            </a:r>
          </a:p>
          <a:p>
            <a:r>
              <a:rPr lang="en-US" sz="2800" dirty="0"/>
              <a:t>The attendance will be marked for the students those who gave their attendance by coming in front of the camera.</a:t>
            </a:r>
          </a:p>
          <a:p>
            <a:r>
              <a:rPr lang="en-US" sz="2800" dirty="0"/>
              <a:t>The attendance record(different for different dates) and Students record will be saved in an CSV file.</a:t>
            </a:r>
            <a:endParaRPr lang="en-IN" sz="2800" dirty="0"/>
          </a:p>
        </p:txBody>
      </p:sp>
    </p:spTree>
    <p:extLst>
      <p:ext uri="{BB962C8B-B14F-4D97-AF65-F5344CB8AC3E}">
        <p14:creationId xmlns:p14="http://schemas.microsoft.com/office/powerpoint/2010/main" val="2669530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9030B-E79A-4684-BDE8-D5237CACF864}"/>
              </a:ext>
            </a:extLst>
          </p:cNvPr>
          <p:cNvSpPr>
            <a:spLocks noGrp="1"/>
          </p:cNvSpPr>
          <p:nvPr>
            <p:ph type="title"/>
          </p:nvPr>
        </p:nvSpPr>
        <p:spPr>
          <a:xfrm>
            <a:off x="2231136" y="449757"/>
            <a:ext cx="7729728" cy="1188720"/>
          </a:xfrm>
        </p:spPr>
        <p:txBody>
          <a:bodyPr>
            <a:normAutofit/>
          </a:bodyPr>
          <a:lstStyle/>
          <a:p>
            <a:r>
              <a:rPr lang="en-US" sz="4000" b="1" dirty="0">
                <a:latin typeface="Arial Black" panose="020B0A04020102020204" pitchFamily="34" charset="0"/>
              </a:rPr>
              <a:t>3.1.OVERVIEW:</a:t>
            </a:r>
            <a:endParaRPr lang="en-IN" sz="4000" b="1" dirty="0">
              <a:latin typeface="Arial Black" panose="020B0A04020102020204" pitchFamily="34" charset="0"/>
            </a:endParaRPr>
          </a:p>
        </p:txBody>
      </p:sp>
      <p:sp>
        <p:nvSpPr>
          <p:cNvPr id="3" name="Content Placeholder 2">
            <a:extLst>
              <a:ext uri="{FF2B5EF4-FFF2-40B4-BE49-F238E27FC236}">
                <a16:creationId xmlns:a16="http://schemas.microsoft.com/office/drawing/2014/main" id="{56F5A3B0-3B0D-45DC-926B-878D864517B8}"/>
              </a:ext>
            </a:extLst>
          </p:cNvPr>
          <p:cNvSpPr>
            <a:spLocks noGrp="1"/>
          </p:cNvSpPr>
          <p:nvPr>
            <p:ph idx="1"/>
          </p:nvPr>
        </p:nvSpPr>
        <p:spPr>
          <a:xfrm>
            <a:off x="928468" y="2009122"/>
            <a:ext cx="9032396" cy="3376655"/>
          </a:xfrm>
        </p:spPr>
        <p:txBody>
          <a:bodyPr>
            <a:normAutofit/>
          </a:bodyPr>
          <a:lstStyle/>
          <a:p>
            <a:pPr marL="0" indent="0" algn="just">
              <a:buNone/>
            </a:pPr>
            <a:r>
              <a:rPr lang="en-US" sz="3600" b="0" i="0" dirty="0">
                <a:solidFill>
                  <a:srgbClr val="000000"/>
                </a:solidFill>
                <a:effectLst/>
                <a:latin typeface="ff1"/>
              </a:rPr>
              <a:t>Face recognition involves two steps, first step involves the detection of faces and second step consist of identification of those detected face images with the existing database.</a:t>
            </a:r>
          </a:p>
          <a:p>
            <a:endParaRPr lang="en-IN" dirty="0"/>
          </a:p>
        </p:txBody>
      </p:sp>
    </p:spTree>
    <p:extLst>
      <p:ext uri="{BB962C8B-B14F-4D97-AF65-F5344CB8AC3E}">
        <p14:creationId xmlns:p14="http://schemas.microsoft.com/office/powerpoint/2010/main" val="155766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EAD49-9726-465B-9760-CD55A8BAAC0D}"/>
              </a:ext>
            </a:extLst>
          </p:cNvPr>
          <p:cNvSpPr>
            <a:spLocks noGrp="1"/>
          </p:cNvSpPr>
          <p:nvPr>
            <p:ph type="title"/>
          </p:nvPr>
        </p:nvSpPr>
        <p:spPr/>
        <p:txBody>
          <a:bodyPr>
            <a:normAutofit/>
          </a:bodyPr>
          <a:lstStyle/>
          <a:p>
            <a:r>
              <a:rPr lang="en-IN" sz="3200" b="1" u="sng" dirty="0">
                <a:solidFill>
                  <a:srgbClr val="273239"/>
                </a:solidFill>
                <a:latin typeface="urw-din"/>
              </a:rPr>
              <a:t>3.2.</a:t>
            </a:r>
            <a:r>
              <a:rPr lang="en-IN" sz="3200" b="1" i="0" u="sng" dirty="0">
                <a:solidFill>
                  <a:srgbClr val="273239"/>
                </a:solidFill>
                <a:effectLst/>
                <a:latin typeface="urw-din"/>
              </a:rPr>
              <a:t>Functional Requirements:</a:t>
            </a:r>
            <a:endParaRPr lang="en-IN" sz="3200" u="sng" dirty="0"/>
          </a:p>
        </p:txBody>
      </p:sp>
      <p:sp>
        <p:nvSpPr>
          <p:cNvPr id="3" name="Content Placeholder 2">
            <a:extLst>
              <a:ext uri="{FF2B5EF4-FFF2-40B4-BE49-F238E27FC236}">
                <a16:creationId xmlns:a16="http://schemas.microsoft.com/office/drawing/2014/main" id="{95E96F20-A095-4FE7-B7AB-7E4FBA937C5F}"/>
              </a:ext>
            </a:extLst>
          </p:cNvPr>
          <p:cNvSpPr>
            <a:spLocks noGrp="1"/>
          </p:cNvSpPr>
          <p:nvPr>
            <p:ph idx="1"/>
          </p:nvPr>
        </p:nvSpPr>
        <p:spPr>
          <a:xfrm>
            <a:off x="858129" y="2638044"/>
            <a:ext cx="9102735" cy="3444101"/>
          </a:xfrm>
        </p:spPr>
        <p:txBody>
          <a:bodyPr>
            <a:normAutofit fontScale="92500"/>
          </a:bodyPr>
          <a:lstStyle/>
          <a:p>
            <a:pPr algn="l">
              <a:buFont typeface="Arial" panose="020B0604020202020204" pitchFamily="34" charset="0"/>
              <a:buChar char="•"/>
            </a:pPr>
            <a:r>
              <a:rPr lang="en-US" sz="2800" b="0" i="0" dirty="0">
                <a:solidFill>
                  <a:srgbClr val="212529"/>
                </a:solidFill>
                <a:effectLst/>
                <a:latin typeface="-apple-system"/>
              </a:rPr>
              <a:t>Taking and tracking student attendance by facial recognition in specific time.</a:t>
            </a:r>
          </a:p>
          <a:p>
            <a:pPr algn="l">
              <a:buFont typeface="Arial" panose="020B0604020202020204" pitchFamily="34" charset="0"/>
              <a:buChar char="•"/>
            </a:pPr>
            <a:r>
              <a:rPr lang="en-US" sz="2800" dirty="0">
                <a:solidFill>
                  <a:srgbClr val="212529"/>
                </a:solidFill>
                <a:latin typeface="-apple-system"/>
              </a:rPr>
              <a:t>Teacher able to a</a:t>
            </a:r>
            <a:r>
              <a:rPr lang="en-US" sz="2800" b="0" i="0" dirty="0">
                <a:solidFill>
                  <a:srgbClr val="212529"/>
                </a:solidFill>
                <a:effectLst/>
                <a:latin typeface="-apple-system"/>
              </a:rPr>
              <a:t>ccess names of the students who are present.</a:t>
            </a:r>
          </a:p>
          <a:p>
            <a:pPr algn="l">
              <a:buFont typeface="Arial" panose="020B0604020202020204" pitchFamily="34" charset="0"/>
              <a:buChar char="•"/>
            </a:pPr>
            <a:r>
              <a:rPr lang="en-US" sz="2800" b="0" i="0" dirty="0">
                <a:solidFill>
                  <a:srgbClr val="212529"/>
                </a:solidFill>
                <a:effectLst/>
                <a:latin typeface="-apple-system"/>
              </a:rPr>
              <a:t>Permitting the lecturer to modify the student attendance record.</a:t>
            </a:r>
          </a:p>
          <a:p>
            <a:pPr algn="l">
              <a:buFont typeface="Arial" panose="020B0604020202020204" pitchFamily="34" charset="0"/>
              <a:buChar char="•"/>
            </a:pPr>
            <a:r>
              <a:rPr lang="en-US" sz="2800" dirty="0">
                <a:solidFill>
                  <a:srgbClr val="212529"/>
                </a:solidFill>
                <a:latin typeface="-apple-system"/>
              </a:rPr>
              <a:t>Able to </a:t>
            </a:r>
            <a:r>
              <a:rPr lang="en-US" sz="2800" b="0" i="0" dirty="0">
                <a:solidFill>
                  <a:srgbClr val="212529"/>
                </a:solidFill>
                <a:effectLst/>
                <a:latin typeface="-apple-system"/>
              </a:rPr>
              <a:t>register new student into the database or remove the existing student from the data base.</a:t>
            </a:r>
          </a:p>
          <a:p>
            <a:pPr algn="l">
              <a:buFont typeface="Arial" panose="020B0604020202020204" pitchFamily="34" charset="0"/>
              <a:buChar char="•"/>
            </a:pPr>
            <a:endParaRPr lang="en-US" sz="2800" b="0" i="0" dirty="0">
              <a:solidFill>
                <a:srgbClr val="212529"/>
              </a:solidFill>
              <a:effectLst/>
              <a:latin typeface="-apple-system"/>
            </a:endParaRPr>
          </a:p>
        </p:txBody>
      </p:sp>
    </p:spTree>
    <p:extLst>
      <p:ext uri="{BB962C8B-B14F-4D97-AF65-F5344CB8AC3E}">
        <p14:creationId xmlns:p14="http://schemas.microsoft.com/office/powerpoint/2010/main" val="3371509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94B2-0E82-4128-987A-B9C0B86E06F5}"/>
              </a:ext>
            </a:extLst>
          </p:cNvPr>
          <p:cNvSpPr>
            <a:spLocks noGrp="1"/>
          </p:cNvSpPr>
          <p:nvPr>
            <p:ph type="title"/>
          </p:nvPr>
        </p:nvSpPr>
        <p:spPr/>
        <p:txBody>
          <a:bodyPr/>
          <a:lstStyle/>
          <a:p>
            <a:r>
              <a:rPr lang="en-IN" b="1" u="sng" dirty="0">
                <a:solidFill>
                  <a:srgbClr val="273239"/>
                </a:solidFill>
                <a:latin typeface="urw-din"/>
              </a:rPr>
              <a:t>3.3.</a:t>
            </a:r>
            <a:r>
              <a:rPr lang="en-IN" b="1" i="0" u="sng" dirty="0">
                <a:solidFill>
                  <a:srgbClr val="273239"/>
                </a:solidFill>
                <a:effectLst/>
                <a:latin typeface="urw-din"/>
              </a:rPr>
              <a:t>Non-functional requirements:</a:t>
            </a:r>
            <a:endParaRPr lang="en-IN" u="sng" dirty="0"/>
          </a:p>
        </p:txBody>
      </p:sp>
      <p:sp>
        <p:nvSpPr>
          <p:cNvPr id="3" name="Content Placeholder 2">
            <a:extLst>
              <a:ext uri="{FF2B5EF4-FFF2-40B4-BE49-F238E27FC236}">
                <a16:creationId xmlns:a16="http://schemas.microsoft.com/office/drawing/2014/main" id="{8E9D48AA-6F4B-42AB-B0A9-AF0D20AB4870}"/>
              </a:ext>
            </a:extLst>
          </p:cNvPr>
          <p:cNvSpPr>
            <a:spLocks noGrp="1"/>
          </p:cNvSpPr>
          <p:nvPr>
            <p:ph idx="1"/>
          </p:nvPr>
        </p:nvSpPr>
        <p:spPr>
          <a:xfrm>
            <a:off x="436097" y="2638044"/>
            <a:ext cx="10508567" cy="3368861"/>
          </a:xfrm>
        </p:spPr>
        <p:txBody>
          <a:bodyPr>
            <a:normAutofit lnSpcReduction="10000"/>
          </a:bodyPr>
          <a:lstStyle/>
          <a:p>
            <a:pPr algn="l">
              <a:buFont typeface="Arial" panose="020B0604020202020204" pitchFamily="34" charset="0"/>
              <a:buChar char="•"/>
            </a:pPr>
            <a:r>
              <a:rPr lang="en-US" sz="2400" b="1" i="0" dirty="0">
                <a:solidFill>
                  <a:srgbClr val="212529"/>
                </a:solidFill>
                <a:effectLst/>
                <a:latin typeface="-apple-system"/>
              </a:rPr>
              <a:t>Accuracy and Precision:</a:t>
            </a:r>
            <a:r>
              <a:rPr lang="en-US" sz="2400" b="0" i="0" dirty="0">
                <a:solidFill>
                  <a:srgbClr val="212529"/>
                </a:solidFill>
                <a:effectLst/>
                <a:latin typeface="-apple-system"/>
              </a:rPr>
              <a:t> the system should perform its process in accuracy and Precision to avoid problems.</a:t>
            </a:r>
          </a:p>
          <a:p>
            <a:pPr algn="l">
              <a:buFont typeface="Arial" panose="020B0604020202020204" pitchFamily="34" charset="0"/>
              <a:buChar char="•"/>
            </a:pPr>
            <a:r>
              <a:rPr lang="en-US" sz="2400" b="1" i="0" dirty="0">
                <a:solidFill>
                  <a:srgbClr val="212529"/>
                </a:solidFill>
                <a:effectLst/>
                <a:latin typeface="-apple-system"/>
              </a:rPr>
              <a:t>Modifiability:</a:t>
            </a:r>
            <a:r>
              <a:rPr lang="en-US" sz="2400" b="0" i="0" dirty="0">
                <a:solidFill>
                  <a:srgbClr val="212529"/>
                </a:solidFill>
                <a:effectLst/>
                <a:latin typeface="-apple-system"/>
              </a:rPr>
              <a:t> the system should be easy to modify, any wrong should be correct.</a:t>
            </a:r>
          </a:p>
          <a:p>
            <a:pPr algn="l">
              <a:buFont typeface="Arial" panose="020B0604020202020204" pitchFamily="34" charset="0"/>
              <a:buChar char="•"/>
            </a:pPr>
            <a:r>
              <a:rPr lang="en-US" sz="2400" b="1" i="0" dirty="0">
                <a:solidFill>
                  <a:srgbClr val="212529"/>
                </a:solidFill>
                <a:effectLst/>
                <a:latin typeface="-apple-system"/>
              </a:rPr>
              <a:t>Security:</a:t>
            </a:r>
            <a:r>
              <a:rPr lang="en-US" sz="2400" b="0" i="0" dirty="0">
                <a:solidFill>
                  <a:srgbClr val="212529"/>
                </a:solidFill>
                <a:effectLst/>
                <a:latin typeface="-apple-system"/>
              </a:rPr>
              <a:t> the system should be secure and saving student’s privacy.</a:t>
            </a:r>
          </a:p>
          <a:p>
            <a:pPr algn="l">
              <a:buFont typeface="Arial" panose="020B0604020202020204" pitchFamily="34" charset="0"/>
              <a:buChar char="•"/>
            </a:pPr>
            <a:r>
              <a:rPr lang="en-US" sz="2400" b="1" i="0" dirty="0">
                <a:solidFill>
                  <a:srgbClr val="212529"/>
                </a:solidFill>
                <a:effectLst/>
                <a:latin typeface="-apple-system"/>
              </a:rPr>
              <a:t>Usability:</a:t>
            </a:r>
            <a:r>
              <a:rPr lang="en-US" sz="2400" b="0" i="0" dirty="0">
                <a:solidFill>
                  <a:srgbClr val="212529"/>
                </a:solidFill>
                <a:effectLst/>
                <a:latin typeface="-apple-system"/>
              </a:rPr>
              <a:t> the system should be easy to deal with and simple to understand.</a:t>
            </a:r>
          </a:p>
          <a:p>
            <a:pPr algn="l">
              <a:buFont typeface="Arial" panose="020B0604020202020204" pitchFamily="34" charset="0"/>
              <a:buChar char="•"/>
            </a:pPr>
            <a:r>
              <a:rPr lang="en-US" sz="2400" b="1" i="0" dirty="0">
                <a:solidFill>
                  <a:srgbClr val="212529"/>
                </a:solidFill>
                <a:effectLst/>
                <a:latin typeface="-apple-system"/>
              </a:rPr>
              <a:t>Maintainability:</a:t>
            </a:r>
            <a:r>
              <a:rPr lang="en-US" sz="2400" b="0" i="0" dirty="0">
                <a:solidFill>
                  <a:srgbClr val="212529"/>
                </a:solidFill>
                <a:effectLst/>
                <a:latin typeface="-apple-system"/>
              </a:rPr>
              <a:t> the maintenance group should be able to fix any problem occur suddenly.</a:t>
            </a:r>
          </a:p>
          <a:p>
            <a:pPr algn="l">
              <a:buFont typeface="Arial" panose="020B0604020202020204" pitchFamily="34" charset="0"/>
              <a:buChar char="•"/>
            </a:pPr>
            <a:r>
              <a:rPr lang="en-US" sz="2400" b="1" i="0" dirty="0">
                <a:solidFill>
                  <a:srgbClr val="212529"/>
                </a:solidFill>
                <a:effectLst/>
                <a:latin typeface="-apple-system"/>
              </a:rPr>
              <a:t>Speed and Responsiveness:</a:t>
            </a:r>
            <a:r>
              <a:rPr lang="en-US" sz="2400" b="0" i="0" dirty="0">
                <a:solidFill>
                  <a:srgbClr val="212529"/>
                </a:solidFill>
                <a:effectLst/>
                <a:latin typeface="-apple-system"/>
              </a:rPr>
              <a:t> Execution of operations should be fast.</a:t>
            </a:r>
          </a:p>
          <a:p>
            <a:endParaRPr lang="en-IN" dirty="0"/>
          </a:p>
        </p:txBody>
      </p:sp>
    </p:spTree>
    <p:extLst>
      <p:ext uri="{BB962C8B-B14F-4D97-AF65-F5344CB8AC3E}">
        <p14:creationId xmlns:p14="http://schemas.microsoft.com/office/powerpoint/2010/main" val="1128718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0CDF-14B4-4C4C-B466-9C9146E50A17}"/>
              </a:ext>
            </a:extLst>
          </p:cNvPr>
          <p:cNvSpPr>
            <a:spLocks noGrp="1"/>
          </p:cNvSpPr>
          <p:nvPr>
            <p:ph type="title"/>
          </p:nvPr>
        </p:nvSpPr>
        <p:spPr>
          <a:xfrm>
            <a:off x="2231136" y="655203"/>
            <a:ext cx="7729728" cy="1188720"/>
          </a:xfrm>
        </p:spPr>
        <p:txBody>
          <a:bodyPr/>
          <a:lstStyle/>
          <a:p>
            <a:r>
              <a:rPr lang="en-US" b="1" u="sng" dirty="0"/>
              <a:t>3.4.SYSTEM MODEL:</a:t>
            </a:r>
            <a:endParaRPr lang="en-IN" b="1" u="sng" dirty="0"/>
          </a:p>
        </p:txBody>
      </p:sp>
      <p:pic>
        <p:nvPicPr>
          <p:cNvPr id="5122" name="Picture 2" descr="GitHub - PrudhviGNV/Face-Recognisation-Based-Attendence: This project is  about to automate manual work of attendance through facial recognition using  OpenCV">
            <a:extLst>
              <a:ext uri="{FF2B5EF4-FFF2-40B4-BE49-F238E27FC236}">
                <a16:creationId xmlns:a16="http://schemas.microsoft.com/office/drawing/2014/main" id="{9307D489-FC9C-4CBB-BECE-F5DE82DD2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810" y="2299745"/>
            <a:ext cx="6212266" cy="4072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349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A717-ADCD-4A37-B28B-58EA4C2A821B}"/>
              </a:ext>
            </a:extLst>
          </p:cNvPr>
          <p:cNvSpPr>
            <a:spLocks noGrp="1"/>
          </p:cNvSpPr>
          <p:nvPr>
            <p:ph type="title"/>
          </p:nvPr>
        </p:nvSpPr>
        <p:spPr>
          <a:xfrm>
            <a:off x="1952840" y="275579"/>
            <a:ext cx="7729728" cy="638821"/>
          </a:xfrm>
        </p:spPr>
        <p:txBody>
          <a:bodyPr>
            <a:normAutofit fontScale="90000"/>
          </a:bodyPr>
          <a:lstStyle/>
          <a:p>
            <a:r>
              <a:rPr lang="en-US" b="1" u="sng" dirty="0"/>
              <a:t>Use case diagram :</a:t>
            </a:r>
            <a:endParaRPr lang="en-IN" b="1" u="sng" dirty="0"/>
          </a:p>
        </p:txBody>
      </p:sp>
      <p:pic>
        <p:nvPicPr>
          <p:cNvPr id="3" name="Picture 2">
            <a:extLst>
              <a:ext uri="{FF2B5EF4-FFF2-40B4-BE49-F238E27FC236}">
                <a16:creationId xmlns:a16="http://schemas.microsoft.com/office/drawing/2014/main" id="{A1388539-7AF9-4D32-96F3-64CDD5D36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7163" y="1048042"/>
            <a:ext cx="5146531" cy="540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277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8B1E9-0CC4-4B19-99D3-00224B1D2555}"/>
              </a:ext>
            </a:extLst>
          </p:cNvPr>
          <p:cNvSpPr>
            <a:spLocks noGrp="1"/>
          </p:cNvSpPr>
          <p:nvPr>
            <p:ph type="title"/>
          </p:nvPr>
        </p:nvSpPr>
        <p:spPr>
          <a:xfrm>
            <a:off x="2231136" y="235822"/>
            <a:ext cx="7729728" cy="842021"/>
          </a:xfrm>
        </p:spPr>
        <p:txBody>
          <a:bodyPr/>
          <a:lstStyle/>
          <a:p>
            <a:r>
              <a:rPr lang="en-US" dirty="0"/>
              <a:t>Class diagram</a:t>
            </a:r>
            <a:endParaRPr lang="en-IN" dirty="0"/>
          </a:p>
        </p:txBody>
      </p:sp>
      <p:pic>
        <p:nvPicPr>
          <p:cNvPr id="5" name="Content Placeholder 4">
            <a:extLst>
              <a:ext uri="{FF2B5EF4-FFF2-40B4-BE49-F238E27FC236}">
                <a16:creationId xmlns:a16="http://schemas.microsoft.com/office/drawing/2014/main" id="{41EE6929-B7A1-4774-8A5F-0AB7292AFC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0039" y="1161799"/>
            <a:ext cx="5420622" cy="5420622"/>
          </a:xfrm>
        </p:spPr>
      </p:pic>
    </p:spTree>
    <p:extLst>
      <p:ext uri="{BB962C8B-B14F-4D97-AF65-F5344CB8AC3E}">
        <p14:creationId xmlns:p14="http://schemas.microsoft.com/office/powerpoint/2010/main" val="2479432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F61D1-E085-48E5-A555-F944A0BB1FC6}"/>
              </a:ext>
            </a:extLst>
          </p:cNvPr>
          <p:cNvSpPr>
            <a:spLocks noGrp="1"/>
          </p:cNvSpPr>
          <p:nvPr>
            <p:ph type="title"/>
          </p:nvPr>
        </p:nvSpPr>
        <p:spPr>
          <a:xfrm>
            <a:off x="1561514" y="1547446"/>
            <a:ext cx="9059594" cy="3207434"/>
          </a:xfrm>
        </p:spPr>
        <p:txBody>
          <a:bodyPr>
            <a:normAutofit/>
          </a:bodyPr>
          <a:lstStyle/>
          <a:p>
            <a:r>
              <a:rPr lang="en-IN" sz="6600" b="1" u="sng" dirty="0">
                <a:effectLst/>
                <a:latin typeface="Times New Roman" panose="02020603050405020304" pitchFamily="18" charset="0"/>
                <a:ea typeface="Calibri" panose="020F0502020204030204" pitchFamily="34" charset="0"/>
              </a:rPr>
              <a:t>System Design Document </a:t>
            </a:r>
            <a:endParaRPr lang="en-IN" sz="8800" b="1" u="sng" dirty="0"/>
          </a:p>
        </p:txBody>
      </p:sp>
    </p:spTree>
    <p:extLst>
      <p:ext uri="{BB962C8B-B14F-4D97-AF65-F5344CB8AC3E}">
        <p14:creationId xmlns:p14="http://schemas.microsoft.com/office/powerpoint/2010/main" val="2352449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E1EE5-5244-46FE-BBF8-6CA5E5FD8C8A}"/>
              </a:ext>
            </a:extLst>
          </p:cNvPr>
          <p:cNvSpPr>
            <a:spLocks noGrp="1"/>
          </p:cNvSpPr>
          <p:nvPr>
            <p:ph type="title"/>
          </p:nvPr>
        </p:nvSpPr>
        <p:spPr>
          <a:xfrm>
            <a:off x="1714500" y="523613"/>
            <a:ext cx="8205354" cy="1188720"/>
          </a:xfrm>
        </p:spPr>
        <p:txBody>
          <a:bodyPr>
            <a:noAutofit/>
          </a:bodyPr>
          <a:lstStyle/>
          <a:p>
            <a:br>
              <a:rPr lang="en-IN" sz="4800" dirty="0">
                <a:latin typeface="Calibri" panose="020F0502020204030204" pitchFamily="34" charset="0"/>
                <a:ea typeface="Calibri" panose="020F0502020204030204" pitchFamily="34" charset="0"/>
                <a:cs typeface="Times New Roman" panose="02020603050405020304" pitchFamily="18" charset="0"/>
              </a:rPr>
            </a:br>
            <a:r>
              <a:rPr lang="en-IN" sz="4800" dirty="0">
                <a:effectLst/>
                <a:latin typeface="Calibri" panose="020F0502020204030204" pitchFamily="34" charset="0"/>
                <a:ea typeface="Calibri" panose="020F0502020204030204" pitchFamily="34" charset="0"/>
                <a:cs typeface="Times New Roman" panose="02020603050405020304" pitchFamily="18" charset="0"/>
              </a:rPr>
              <a:t>1. </a:t>
            </a:r>
            <a:r>
              <a:rPr lang="en-IN" sz="4800" dirty="0">
                <a:effectLst/>
                <a:latin typeface="Times New Roman" panose="02020603050405020304" pitchFamily="18" charset="0"/>
                <a:ea typeface="Calibri" panose="020F0502020204030204" pitchFamily="34" charset="0"/>
                <a:cs typeface="Times New Roman" panose="02020603050405020304" pitchFamily="18" charset="0"/>
              </a:rPr>
              <a:t>Introduction </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sz="3600" dirty="0"/>
          </a:p>
        </p:txBody>
      </p:sp>
      <p:sp>
        <p:nvSpPr>
          <p:cNvPr id="3" name="Content Placeholder 2">
            <a:extLst>
              <a:ext uri="{FF2B5EF4-FFF2-40B4-BE49-F238E27FC236}">
                <a16:creationId xmlns:a16="http://schemas.microsoft.com/office/drawing/2014/main" id="{0EF3F9F8-3248-41AA-A1EF-0409279FEF98}"/>
              </a:ext>
            </a:extLst>
          </p:cNvPr>
          <p:cNvSpPr>
            <a:spLocks noGrp="1"/>
          </p:cNvSpPr>
          <p:nvPr>
            <p:ph idx="1"/>
          </p:nvPr>
        </p:nvSpPr>
        <p:spPr>
          <a:xfrm>
            <a:off x="1714500" y="1962150"/>
            <a:ext cx="8743950" cy="4372237"/>
          </a:xfrm>
        </p:spPr>
        <p:txBody>
          <a:bodyPr>
            <a:normAutofit fontScale="77500" lnSpcReduction="20000"/>
          </a:bodyPr>
          <a:lstStyle/>
          <a:p>
            <a:pPr marL="0" indent="0">
              <a:lnSpc>
                <a:spcPct val="115000"/>
              </a:lnSpc>
              <a:spcAft>
                <a:spcPts val="1000"/>
              </a:spcAft>
              <a:buNone/>
            </a:pPr>
            <a:b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800" dirty="0">
                <a:effectLst/>
                <a:latin typeface="Times New Roman" panose="02020603050405020304" pitchFamily="18" charset="0"/>
                <a:ea typeface="Times New Roman" panose="02020603050405020304" pitchFamily="18" charset="0"/>
                <a:cs typeface="Times New Roman" panose="02020603050405020304" pitchFamily="18" charset="0"/>
              </a:rPr>
              <a:t>The system is developed for deploying an easy and a secure way of taking down attendance. The software first captures an image of all the authorized persons and stores the information into database. The system then stores the image by mapping it into a face coordinate structure. Next time whenever the registered person enters the premises the system recognizes the person and marks his attendance along with the time.</a:t>
            </a: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3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1197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EFED5-DFB9-4A70-9B4A-21AC4F66024A}"/>
              </a:ext>
            </a:extLst>
          </p:cNvPr>
          <p:cNvSpPr>
            <a:spLocks noGrp="1"/>
          </p:cNvSpPr>
          <p:nvPr>
            <p:ph type="title"/>
          </p:nvPr>
        </p:nvSpPr>
        <p:spPr>
          <a:xfrm>
            <a:off x="2134154" y="523613"/>
            <a:ext cx="7729728" cy="1188720"/>
          </a:xfrm>
        </p:spPr>
        <p:txBody>
          <a:bodyPr>
            <a:normAutofit/>
          </a:bodyPr>
          <a:lstStyle/>
          <a:p>
            <a:r>
              <a:rPr lang="en-IN" sz="3600" dirty="0">
                <a:effectLst/>
                <a:latin typeface="Times New Roman" panose="02020603050405020304" pitchFamily="18" charset="0"/>
                <a:ea typeface="Times New Roman" panose="02020603050405020304" pitchFamily="18" charset="0"/>
                <a:cs typeface="Times New Roman" panose="02020603050405020304" pitchFamily="18" charset="0"/>
              </a:rPr>
              <a:t>1.1.Purpose of the system</a:t>
            </a:r>
            <a:endParaRPr lang="en-IN" sz="3600" dirty="0"/>
          </a:p>
        </p:txBody>
      </p:sp>
      <p:sp>
        <p:nvSpPr>
          <p:cNvPr id="3" name="Content Placeholder 2">
            <a:extLst>
              <a:ext uri="{FF2B5EF4-FFF2-40B4-BE49-F238E27FC236}">
                <a16:creationId xmlns:a16="http://schemas.microsoft.com/office/drawing/2014/main" id="{2686FE11-2017-4B47-B2AF-C82001C7B1B7}"/>
              </a:ext>
            </a:extLst>
          </p:cNvPr>
          <p:cNvSpPr>
            <a:spLocks noGrp="1"/>
          </p:cNvSpPr>
          <p:nvPr>
            <p:ph idx="1"/>
          </p:nvPr>
        </p:nvSpPr>
        <p:spPr>
          <a:xfrm>
            <a:off x="2134154" y="2097717"/>
            <a:ext cx="8095696" cy="3522033"/>
          </a:xfrm>
        </p:spPr>
        <p:txBody>
          <a:bodyPr>
            <a:normAutofit/>
          </a:bodyPr>
          <a:lstStyle/>
          <a:p>
            <a:pPr marL="0" indent="0">
              <a:buNone/>
            </a:pPr>
            <a:r>
              <a:rPr lang="en-US" sz="2800" b="0" i="0" dirty="0">
                <a:solidFill>
                  <a:srgbClr val="202124"/>
                </a:solidFill>
                <a:effectLst/>
                <a:latin typeface="arial" panose="020B0604020202020204" pitchFamily="34" charset="0"/>
              </a:rPr>
              <a:t>Instead of using the conventional methods, this proposed system aims to develop an automated system that records the student's attendance by using facial recognition technology. The main objective of this work is </a:t>
            </a:r>
            <a:r>
              <a:rPr lang="en-US" sz="2800" b="1" i="0" dirty="0">
                <a:solidFill>
                  <a:srgbClr val="202124"/>
                </a:solidFill>
                <a:effectLst/>
                <a:latin typeface="arial" panose="020B0604020202020204" pitchFamily="34" charset="0"/>
              </a:rPr>
              <a:t>to make the attendance marking and management system efficient, time saving, simple and easy</a:t>
            </a:r>
            <a:r>
              <a:rPr lang="en-US" sz="2800" b="0" i="0" dirty="0">
                <a:solidFill>
                  <a:srgbClr val="202124"/>
                </a:solidFill>
                <a:effectLst/>
                <a:latin typeface="arial" panose="020B0604020202020204" pitchFamily="34" charset="0"/>
              </a:rPr>
              <a:t>.</a:t>
            </a:r>
            <a:endParaRPr lang="en-IN" sz="2800" dirty="0"/>
          </a:p>
        </p:txBody>
      </p:sp>
    </p:spTree>
    <p:extLst>
      <p:ext uri="{BB962C8B-B14F-4D97-AF65-F5344CB8AC3E}">
        <p14:creationId xmlns:p14="http://schemas.microsoft.com/office/powerpoint/2010/main" val="2345139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C6F01-F743-432B-A9B1-190686196709}"/>
              </a:ext>
            </a:extLst>
          </p:cNvPr>
          <p:cNvSpPr>
            <a:spLocks noGrp="1"/>
          </p:cNvSpPr>
          <p:nvPr>
            <p:ph type="title"/>
          </p:nvPr>
        </p:nvSpPr>
        <p:spPr>
          <a:xfrm>
            <a:off x="1995055" y="840001"/>
            <a:ext cx="7729728" cy="1188720"/>
          </a:xfrm>
        </p:spPr>
        <p:txBody>
          <a:bodyPr>
            <a:normAutofit/>
          </a:bodyPr>
          <a:lstStyle/>
          <a:p>
            <a:r>
              <a:rPr lang="en-IN" sz="4000" dirty="0">
                <a:effectLst/>
                <a:latin typeface="Times New Roman" panose="02020603050405020304" pitchFamily="18" charset="0"/>
                <a:ea typeface="Times New Roman" panose="02020603050405020304" pitchFamily="18" charset="0"/>
                <a:cs typeface="Times New Roman" panose="02020603050405020304" pitchFamily="18" charset="0"/>
              </a:rPr>
              <a:t>1.2.Design Goals</a:t>
            </a:r>
            <a:endParaRPr lang="en-IN" sz="4000" dirty="0"/>
          </a:p>
        </p:txBody>
      </p:sp>
      <p:sp>
        <p:nvSpPr>
          <p:cNvPr id="3" name="Content Placeholder 2">
            <a:extLst>
              <a:ext uri="{FF2B5EF4-FFF2-40B4-BE49-F238E27FC236}">
                <a16:creationId xmlns:a16="http://schemas.microsoft.com/office/drawing/2014/main" id="{68E111D7-DAC7-4FFE-B404-AD087CFEDD25}"/>
              </a:ext>
            </a:extLst>
          </p:cNvPr>
          <p:cNvSpPr>
            <a:spLocks noGrp="1"/>
          </p:cNvSpPr>
          <p:nvPr>
            <p:ph idx="1"/>
          </p:nvPr>
        </p:nvSpPr>
        <p:spPr>
          <a:xfrm>
            <a:off x="1995055" y="2535382"/>
            <a:ext cx="7965809" cy="3204645"/>
          </a:xfrm>
        </p:spPr>
        <p:txBody>
          <a:bodyPr/>
          <a:lstStyle/>
          <a:p>
            <a:r>
              <a:rPr lang="en-US" sz="3200" dirty="0"/>
              <a:t>Accessibility</a:t>
            </a:r>
          </a:p>
          <a:p>
            <a:r>
              <a:rPr lang="en-US" sz="3200" dirty="0"/>
              <a:t>Usability</a:t>
            </a:r>
          </a:p>
          <a:p>
            <a:r>
              <a:rPr lang="en-US" sz="3200" dirty="0"/>
              <a:t>Fit for Purpose</a:t>
            </a:r>
          </a:p>
          <a:p>
            <a:r>
              <a:rPr lang="en-US" sz="3200" dirty="0"/>
              <a:t>Reusability</a:t>
            </a:r>
          </a:p>
          <a:p>
            <a:r>
              <a:rPr lang="en-US" sz="3200" dirty="0"/>
              <a:t>User Friendly </a:t>
            </a:r>
          </a:p>
          <a:p>
            <a:endParaRPr lang="en-IN" dirty="0"/>
          </a:p>
        </p:txBody>
      </p:sp>
    </p:spTree>
    <p:extLst>
      <p:ext uri="{BB962C8B-B14F-4D97-AF65-F5344CB8AC3E}">
        <p14:creationId xmlns:p14="http://schemas.microsoft.com/office/powerpoint/2010/main" val="1905678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486A-F939-4DBC-A347-E57C32B444F7}"/>
              </a:ext>
            </a:extLst>
          </p:cNvPr>
          <p:cNvSpPr>
            <a:spLocks noGrp="1"/>
          </p:cNvSpPr>
          <p:nvPr>
            <p:ph type="title"/>
          </p:nvPr>
        </p:nvSpPr>
        <p:spPr>
          <a:xfrm>
            <a:off x="2231136" y="523613"/>
            <a:ext cx="7729728" cy="1188720"/>
          </a:xfrm>
        </p:spPr>
        <p:txBody>
          <a:bodyPr/>
          <a:lstStyle/>
          <a:p>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  1.3.References</a:t>
            </a:r>
            <a:endParaRPr lang="en-IN" dirty="0"/>
          </a:p>
        </p:txBody>
      </p:sp>
      <p:sp>
        <p:nvSpPr>
          <p:cNvPr id="3" name="Content Placeholder 2">
            <a:extLst>
              <a:ext uri="{FF2B5EF4-FFF2-40B4-BE49-F238E27FC236}">
                <a16:creationId xmlns:a16="http://schemas.microsoft.com/office/drawing/2014/main" id="{53B1C6FB-5B2B-4839-891D-342686B02BFB}"/>
              </a:ext>
            </a:extLst>
          </p:cNvPr>
          <p:cNvSpPr>
            <a:spLocks noGrp="1"/>
          </p:cNvSpPr>
          <p:nvPr>
            <p:ph idx="1"/>
          </p:nvPr>
        </p:nvSpPr>
        <p:spPr>
          <a:xfrm>
            <a:off x="1581150" y="2076450"/>
            <a:ext cx="9582150" cy="4552950"/>
          </a:xfrm>
        </p:spPr>
        <p:txBody>
          <a:bodyPr>
            <a:normAutofit lnSpcReduction="10000"/>
          </a:bodyPr>
          <a:lstStyle/>
          <a:p>
            <a:pPr marL="0" indent="0" algn="l">
              <a:buNone/>
            </a:pPr>
            <a:r>
              <a:rPr lang="en-IN" sz="2400" b="0" i="0" dirty="0">
                <a:solidFill>
                  <a:srgbClr val="000000"/>
                </a:solidFill>
                <a:effectLst/>
                <a:latin typeface="ff1"/>
              </a:rPr>
              <a:t>[1] ttps://www.researchgate.net/publication/326261079_Face_detection_ </a:t>
            </a:r>
          </a:p>
          <a:p>
            <a:pPr marL="0" indent="0" algn="l">
              <a:buNone/>
            </a:pPr>
            <a:r>
              <a:rPr lang="en-IN" sz="2400" b="0" i="0" dirty="0" err="1">
                <a:solidFill>
                  <a:srgbClr val="000000"/>
                </a:solidFill>
                <a:effectLst/>
                <a:latin typeface="ff1"/>
              </a:rPr>
              <a:t>system_for_attendanc</a:t>
            </a:r>
            <a:r>
              <a:rPr lang="en-IN" sz="2400" b="0" i="0" dirty="0" err="1">
                <a:solidFill>
                  <a:srgbClr val="000000"/>
                </a:solidFill>
                <a:effectLst/>
                <a:latin typeface="ff4"/>
              </a:rPr>
              <a:t>e_of_class’_students</a:t>
            </a:r>
            <a:r>
              <a:rPr lang="en-IN" sz="2400" b="0" i="0" dirty="0">
                <a:solidFill>
                  <a:srgbClr val="000000"/>
                </a:solidFill>
                <a:effectLst/>
                <a:latin typeface="ff4"/>
              </a:rPr>
              <a:t> </a:t>
            </a:r>
          </a:p>
          <a:p>
            <a:pPr marL="0" indent="0" algn="l">
              <a:buNone/>
            </a:pPr>
            <a:endParaRPr lang="en-IN" sz="2400" b="0" i="0" dirty="0">
              <a:solidFill>
                <a:srgbClr val="000000"/>
              </a:solidFill>
              <a:effectLst/>
              <a:latin typeface="ff1"/>
            </a:endParaRPr>
          </a:p>
          <a:p>
            <a:pPr marL="0" indent="0" algn="l">
              <a:buNone/>
            </a:pPr>
            <a:r>
              <a:rPr lang="en-IN" sz="2400" b="0" i="0" dirty="0">
                <a:solidFill>
                  <a:srgbClr val="000000"/>
                </a:solidFill>
                <a:effectLst/>
                <a:latin typeface="ff1"/>
              </a:rPr>
              <a:t>[2] </a:t>
            </a:r>
            <a:r>
              <a:rPr lang="en-IN" sz="2400" b="0" i="0" dirty="0" err="1">
                <a:solidFill>
                  <a:srgbClr val="000000"/>
                </a:solidFill>
                <a:effectLst/>
                <a:latin typeface="ff1"/>
              </a:rPr>
              <a:t>Hapani</a:t>
            </a:r>
            <a:r>
              <a:rPr lang="en-IN" sz="2400" b="0" i="0" dirty="0">
                <a:solidFill>
                  <a:srgbClr val="000000"/>
                </a:solidFill>
                <a:effectLst/>
                <a:latin typeface="ff1"/>
              </a:rPr>
              <a:t>, Smit, et al. "Automated Attendance System Using Image </a:t>
            </a:r>
          </a:p>
          <a:p>
            <a:pPr marL="0" indent="0" algn="l">
              <a:buNone/>
            </a:pPr>
            <a:r>
              <a:rPr lang="en-IN" sz="2400" b="0" i="0" dirty="0">
                <a:solidFill>
                  <a:srgbClr val="000000"/>
                </a:solidFill>
                <a:effectLst/>
                <a:latin typeface="ff1"/>
              </a:rPr>
              <a:t>Processing." 2018 Fourth International Conference on Computing </a:t>
            </a:r>
          </a:p>
          <a:p>
            <a:pPr marL="0" indent="0" algn="l">
              <a:buNone/>
            </a:pPr>
            <a:r>
              <a:rPr lang="en-IN" sz="2400" b="0" i="0" dirty="0">
                <a:solidFill>
                  <a:srgbClr val="000000"/>
                </a:solidFill>
                <a:effectLst/>
                <a:latin typeface="ff1"/>
              </a:rPr>
              <a:t>Communication Control and Automation (ICCUBEA). IEEE, 2018.</a:t>
            </a:r>
          </a:p>
          <a:p>
            <a:pPr marL="0" indent="0" algn="l">
              <a:buNone/>
            </a:pPr>
            <a:r>
              <a:rPr lang="en-IN" sz="2400" b="0" i="0" dirty="0">
                <a:solidFill>
                  <a:srgbClr val="000000"/>
                </a:solidFill>
                <a:effectLst/>
                <a:latin typeface="ff1"/>
              </a:rPr>
              <a:t> </a:t>
            </a:r>
          </a:p>
          <a:p>
            <a:pPr marL="0" indent="0" algn="l">
              <a:buNone/>
            </a:pPr>
            <a:r>
              <a:rPr lang="en-IN" sz="2400" b="0" i="0" dirty="0">
                <a:solidFill>
                  <a:srgbClr val="000000"/>
                </a:solidFill>
                <a:effectLst/>
                <a:latin typeface="ff1"/>
              </a:rPr>
              <a:t>[3] Akbar, Md Sajid, et al. "Face Recognition and RFID Verified </a:t>
            </a:r>
          </a:p>
          <a:p>
            <a:pPr marL="0" indent="0" algn="l">
              <a:buNone/>
            </a:pPr>
            <a:r>
              <a:rPr lang="en-IN" sz="2400" b="0" i="0" dirty="0">
                <a:solidFill>
                  <a:srgbClr val="000000"/>
                </a:solidFill>
                <a:effectLst/>
                <a:latin typeface="ff1"/>
              </a:rPr>
              <a:t>Attendance System." 2018 International Conference on Computing, </a:t>
            </a:r>
          </a:p>
          <a:p>
            <a:pPr marL="0" indent="0" algn="l">
              <a:buNone/>
            </a:pPr>
            <a:r>
              <a:rPr lang="en-IN" sz="2400" b="0" i="0" dirty="0">
                <a:solidFill>
                  <a:srgbClr val="000000"/>
                </a:solidFill>
                <a:effectLst/>
                <a:latin typeface="ff1"/>
              </a:rPr>
              <a:t>Electronics &amp; Communications Engineering (</a:t>
            </a:r>
            <a:r>
              <a:rPr lang="en-IN" sz="2400" b="0" i="0" dirty="0" err="1">
                <a:solidFill>
                  <a:srgbClr val="000000"/>
                </a:solidFill>
                <a:effectLst/>
                <a:latin typeface="ff1"/>
              </a:rPr>
              <a:t>iCCECE</a:t>
            </a:r>
            <a:r>
              <a:rPr lang="en-IN" sz="2400" b="0" i="0" dirty="0">
                <a:solidFill>
                  <a:srgbClr val="000000"/>
                </a:solidFill>
                <a:effectLst/>
                <a:latin typeface="ff1"/>
              </a:rPr>
              <a:t>). IEEE, 2018.</a:t>
            </a:r>
          </a:p>
          <a:p>
            <a:endParaRPr lang="en-IN" sz="2400" dirty="0"/>
          </a:p>
        </p:txBody>
      </p:sp>
    </p:spTree>
    <p:extLst>
      <p:ext uri="{BB962C8B-B14F-4D97-AF65-F5344CB8AC3E}">
        <p14:creationId xmlns:p14="http://schemas.microsoft.com/office/powerpoint/2010/main" val="1793017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BC1CF-B3B6-46F8-85A8-CC0D70D9CBB8}"/>
              </a:ext>
            </a:extLst>
          </p:cNvPr>
          <p:cNvSpPr>
            <a:spLocks noGrp="1"/>
          </p:cNvSpPr>
          <p:nvPr>
            <p:ph idx="1"/>
          </p:nvPr>
        </p:nvSpPr>
        <p:spPr>
          <a:xfrm>
            <a:off x="1316736" y="656844"/>
            <a:ext cx="9789414" cy="5572506"/>
          </a:xfrm>
        </p:spPr>
        <p:txBody>
          <a:bodyPr>
            <a:normAutofit fontScale="70000" lnSpcReduction="20000"/>
          </a:bodyPr>
          <a:lstStyle/>
          <a:p>
            <a:pPr marL="0" indent="0">
              <a:buNone/>
            </a:pPr>
            <a:r>
              <a:rPr lang="en-IN" sz="3200" b="0" i="0" dirty="0">
                <a:solidFill>
                  <a:srgbClr val="000000"/>
                </a:solidFill>
                <a:effectLst/>
                <a:latin typeface="ff1"/>
              </a:rPr>
              <a:t>[4] </a:t>
            </a:r>
            <a:r>
              <a:rPr lang="en-IN" sz="3200" b="0" i="0" dirty="0" err="1">
                <a:solidFill>
                  <a:srgbClr val="000000"/>
                </a:solidFill>
                <a:effectLst/>
                <a:latin typeface="ff1"/>
              </a:rPr>
              <a:t>Okokpujie</a:t>
            </a:r>
            <a:r>
              <a:rPr lang="en-IN" sz="3200" b="0" i="0" dirty="0">
                <a:solidFill>
                  <a:srgbClr val="000000"/>
                </a:solidFill>
                <a:effectLst/>
                <a:latin typeface="ff1"/>
              </a:rPr>
              <a:t>, Kennedy O., et al. "Design and implementation of a </a:t>
            </a:r>
          </a:p>
          <a:p>
            <a:pPr marL="0" indent="0">
              <a:buNone/>
            </a:pPr>
            <a:r>
              <a:rPr lang="en-IN" sz="3200" b="0" i="0" dirty="0">
                <a:solidFill>
                  <a:srgbClr val="000000"/>
                </a:solidFill>
                <a:effectLst/>
                <a:latin typeface="ff1"/>
              </a:rPr>
              <a:t>student attendance system using iris biometric recognition." 2017 </a:t>
            </a:r>
          </a:p>
          <a:p>
            <a:pPr marL="0" indent="0">
              <a:buNone/>
            </a:pPr>
            <a:r>
              <a:rPr lang="en-IN" sz="3200" b="0" i="0" dirty="0">
                <a:solidFill>
                  <a:srgbClr val="000000"/>
                </a:solidFill>
                <a:effectLst/>
                <a:latin typeface="ff1"/>
              </a:rPr>
              <a:t>International Conference on Computational Science and </a:t>
            </a:r>
          </a:p>
          <a:p>
            <a:pPr marL="0" indent="0">
              <a:buNone/>
            </a:pPr>
            <a:r>
              <a:rPr lang="en-IN" sz="3200" b="0" i="0" dirty="0">
                <a:solidFill>
                  <a:srgbClr val="000000"/>
                </a:solidFill>
                <a:effectLst/>
                <a:latin typeface="ff1"/>
              </a:rPr>
              <a:t>Computational Intelligence (CSCI). IEEE, 2017. </a:t>
            </a:r>
          </a:p>
          <a:p>
            <a:pPr marL="0" indent="0">
              <a:buNone/>
            </a:pPr>
            <a:endParaRPr lang="en-IN" sz="3200" b="0" i="0" dirty="0">
              <a:solidFill>
                <a:srgbClr val="000000"/>
              </a:solidFill>
              <a:effectLst/>
              <a:latin typeface="ff1"/>
            </a:endParaRPr>
          </a:p>
          <a:p>
            <a:pPr marL="0" indent="0">
              <a:buNone/>
            </a:pPr>
            <a:r>
              <a:rPr lang="en-IN" sz="3200" b="0" i="0" dirty="0">
                <a:solidFill>
                  <a:srgbClr val="000000"/>
                </a:solidFill>
                <a:effectLst/>
                <a:latin typeface="ff1"/>
              </a:rPr>
              <a:t>[5] Rathod, </a:t>
            </a:r>
            <a:r>
              <a:rPr lang="en-IN" sz="3200" b="0" i="0" dirty="0" err="1">
                <a:solidFill>
                  <a:srgbClr val="000000"/>
                </a:solidFill>
                <a:effectLst/>
                <a:latin typeface="ff1"/>
              </a:rPr>
              <a:t>Hemantkumar</a:t>
            </a:r>
            <a:r>
              <a:rPr lang="en-IN" sz="3200" b="0" i="0" dirty="0">
                <a:solidFill>
                  <a:srgbClr val="000000"/>
                </a:solidFill>
                <a:effectLst/>
                <a:latin typeface="ff1"/>
              </a:rPr>
              <a:t>, et al. "Automated attendance system using </a:t>
            </a:r>
          </a:p>
          <a:p>
            <a:pPr marL="0" indent="0">
              <a:buNone/>
            </a:pPr>
            <a:r>
              <a:rPr lang="en-IN" sz="3200" b="0" i="0" dirty="0">
                <a:solidFill>
                  <a:srgbClr val="000000"/>
                </a:solidFill>
                <a:effectLst/>
                <a:latin typeface="ff1"/>
              </a:rPr>
              <a:t>machine learning approach." 2017 International Conference on </a:t>
            </a:r>
          </a:p>
          <a:p>
            <a:pPr marL="0" indent="0">
              <a:buNone/>
            </a:pPr>
            <a:r>
              <a:rPr lang="en-IN" sz="3200" b="0" i="0" dirty="0">
                <a:solidFill>
                  <a:srgbClr val="000000"/>
                </a:solidFill>
                <a:effectLst/>
                <a:latin typeface="ff1"/>
              </a:rPr>
              <a:t>Nascent Technologies in Engineering (ICNTE). IEEE, 2017. </a:t>
            </a:r>
          </a:p>
          <a:p>
            <a:pPr marL="0" indent="0">
              <a:buNone/>
            </a:pPr>
            <a:endParaRPr lang="en-IN" sz="3200" b="0" i="0" dirty="0">
              <a:solidFill>
                <a:srgbClr val="000000"/>
              </a:solidFill>
              <a:effectLst/>
              <a:latin typeface="ff1"/>
            </a:endParaRPr>
          </a:p>
          <a:p>
            <a:pPr marL="0" indent="0">
              <a:buNone/>
            </a:pPr>
            <a:r>
              <a:rPr lang="en-IN" sz="3200" b="0" i="0" dirty="0">
                <a:solidFill>
                  <a:srgbClr val="000000"/>
                </a:solidFill>
                <a:effectLst/>
                <a:latin typeface="ff1"/>
              </a:rPr>
              <a:t>[6] </a:t>
            </a:r>
            <a:r>
              <a:rPr lang="en-IN" sz="3200" b="0" i="0" dirty="0" err="1">
                <a:solidFill>
                  <a:srgbClr val="000000"/>
                </a:solidFill>
                <a:effectLst/>
                <a:latin typeface="ff1"/>
              </a:rPr>
              <a:t>Siswanto</a:t>
            </a:r>
            <a:r>
              <a:rPr lang="en-IN" sz="3200" b="0" i="0" dirty="0">
                <a:solidFill>
                  <a:srgbClr val="000000"/>
                </a:solidFill>
                <a:effectLst/>
                <a:latin typeface="ff1"/>
              </a:rPr>
              <a:t>, Adrian </a:t>
            </a:r>
            <a:r>
              <a:rPr lang="en-IN" sz="3200" b="0" i="0" dirty="0" err="1">
                <a:solidFill>
                  <a:srgbClr val="000000"/>
                </a:solidFill>
                <a:effectLst/>
                <a:latin typeface="ff1"/>
              </a:rPr>
              <a:t>Rhesa</a:t>
            </a:r>
            <a:r>
              <a:rPr lang="en-IN" sz="3200" b="0" i="0" dirty="0">
                <a:solidFill>
                  <a:srgbClr val="000000"/>
                </a:solidFill>
                <a:effectLst/>
                <a:latin typeface="ff1"/>
              </a:rPr>
              <a:t> </a:t>
            </a:r>
            <a:r>
              <a:rPr lang="en-IN" sz="3200" b="0" i="0" dirty="0" err="1">
                <a:solidFill>
                  <a:srgbClr val="000000"/>
                </a:solidFill>
                <a:effectLst/>
                <a:latin typeface="ff1"/>
              </a:rPr>
              <a:t>Septian</a:t>
            </a:r>
            <a:r>
              <a:rPr lang="en-IN" sz="3200" b="0" i="0" dirty="0">
                <a:solidFill>
                  <a:srgbClr val="000000"/>
                </a:solidFill>
                <a:effectLst/>
                <a:latin typeface="ff1"/>
              </a:rPr>
              <a:t>, </a:t>
            </a:r>
            <a:r>
              <a:rPr lang="en-IN" sz="3200" b="0" i="0" dirty="0" err="1">
                <a:solidFill>
                  <a:srgbClr val="000000"/>
                </a:solidFill>
                <a:effectLst/>
                <a:latin typeface="ff1"/>
              </a:rPr>
              <a:t>Anto</a:t>
            </a:r>
            <a:r>
              <a:rPr lang="en-IN" sz="3200" b="0" i="0" dirty="0">
                <a:solidFill>
                  <a:srgbClr val="000000"/>
                </a:solidFill>
                <a:effectLst/>
                <a:latin typeface="ff1"/>
              </a:rPr>
              <a:t> </a:t>
            </a:r>
            <a:r>
              <a:rPr lang="en-IN" sz="3200" b="0" i="0" dirty="0" err="1">
                <a:solidFill>
                  <a:srgbClr val="000000"/>
                </a:solidFill>
                <a:effectLst/>
                <a:latin typeface="ff1"/>
              </a:rPr>
              <a:t>Satriyo</a:t>
            </a:r>
            <a:r>
              <a:rPr lang="en-IN" sz="3200" b="0" i="0" dirty="0">
                <a:solidFill>
                  <a:srgbClr val="000000"/>
                </a:solidFill>
                <a:effectLst/>
                <a:latin typeface="ff1"/>
              </a:rPr>
              <a:t> Nugroho, and </a:t>
            </a:r>
          </a:p>
          <a:p>
            <a:pPr marL="0" indent="0">
              <a:buNone/>
            </a:pPr>
            <a:r>
              <a:rPr lang="en-IN" sz="3200" b="0" i="0" dirty="0" err="1">
                <a:solidFill>
                  <a:srgbClr val="000000"/>
                </a:solidFill>
                <a:effectLst/>
                <a:latin typeface="ff1"/>
              </a:rPr>
              <a:t>Maulahikmah</a:t>
            </a:r>
            <a:r>
              <a:rPr lang="en-IN" sz="3200" b="0" i="0" dirty="0">
                <a:solidFill>
                  <a:srgbClr val="000000"/>
                </a:solidFill>
                <a:effectLst/>
                <a:latin typeface="ff1"/>
              </a:rPr>
              <a:t> </a:t>
            </a:r>
            <a:r>
              <a:rPr lang="en-IN" sz="3200" b="0" i="0" dirty="0" err="1">
                <a:solidFill>
                  <a:srgbClr val="000000"/>
                </a:solidFill>
                <a:effectLst/>
                <a:latin typeface="ff1"/>
              </a:rPr>
              <a:t>Galinium</a:t>
            </a:r>
            <a:r>
              <a:rPr lang="en-IN" sz="3200" b="0" i="0" dirty="0">
                <a:solidFill>
                  <a:srgbClr val="000000"/>
                </a:solidFill>
                <a:effectLst/>
                <a:latin typeface="ff1"/>
              </a:rPr>
              <a:t>. "Implementation of face recognition </a:t>
            </a:r>
          </a:p>
          <a:p>
            <a:pPr marL="0" indent="0">
              <a:buNone/>
            </a:pPr>
            <a:r>
              <a:rPr lang="en-IN" sz="3200" b="0" i="0" dirty="0">
                <a:solidFill>
                  <a:srgbClr val="000000"/>
                </a:solidFill>
                <a:effectLst/>
                <a:latin typeface="ff1"/>
              </a:rPr>
              <a:t>algorithm for biometrics based time attendance system." 2014 </a:t>
            </a:r>
          </a:p>
          <a:p>
            <a:pPr marL="0" indent="0">
              <a:buNone/>
            </a:pPr>
            <a:r>
              <a:rPr lang="en-IN" sz="3200" b="0" i="0" dirty="0">
                <a:solidFill>
                  <a:srgbClr val="000000"/>
                </a:solidFill>
                <a:effectLst/>
                <a:latin typeface="ff1"/>
              </a:rPr>
              <a:t>International Conference on ICT For Smart Society (ICISS). IEEE, </a:t>
            </a:r>
          </a:p>
          <a:p>
            <a:pPr marL="0" indent="0">
              <a:buNone/>
            </a:pPr>
            <a:r>
              <a:rPr lang="en-IN" sz="3200" b="0" i="0" dirty="0">
                <a:solidFill>
                  <a:srgbClr val="000000"/>
                </a:solidFill>
                <a:effectLst/>
                <a:latin typeface="ff1"/>
              </a:rPr>
              <a:t>2014.</a:t>
            </a:r>
          </a:p>
          <a:p>
            <a:endParaRPr lang="en-IN" dirty="0"/>
          </a:p>
        </p:txBody>
      </p:sp>
    </p:spTree>
    <p:extLst>
      <p:ext uri="{BB962C8B-B14F-4D97-AF65-F5344CB8AC3E}">
        <p14:creationId xmlns:p14="http://schemas.microsoft.com/office/powerpoint/2010/main" val="3515904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45C80-B36A-4D26-8875-89B376E6DA80}"/>
              </a:ext>
            </a:extLst>
          </p:cNvPr>
          <p:cNvSpPr>
            <a:spLocks noGrp="1"/>
          </p:cNvSpPr>
          <p:nvPr>
            <p:ph idx="1"/>
          </p:nvPr>
        </p:nvSpPr>
        <p:spPr>
          <a:xfrm>
            <a:off x="954786" y="809244"/>
            <a:ext cx="10094214" cy="5172456"/>
          </a:xfrm>
        </p:spPr>
        <p:txBody>
          <a:bodyPr>
            <a:normAutofit fontScale="55000" lnSpcReduction="20000"/>
          </a:bodyPr>
          <a:lstStyle/>
          <a:p>
            <a:pPr marL="0" indent="0" algn="l">
              <a:buNone/>
            </a:pPr>
            <a:r>
              <a:rPr lang="en-IN" sz="3600" b="0" i="0" dirty="0">
                <a:solidFill>
                  <a:srgbClr val="000000"/>
                </a:solidFill>
                <a:effectLst/>
                <a:latin typeface="ff1"/>
              </a:rPr>
              <a:t>[7] Lukas, Samuel, et al. "Student attendance system in classroom using </a:t>
            </a:r>
          </a:p>
          <a:p>
            <a:pPr marL="0" indent="0" algn="l">
              <a:buNone/>
            </a:pPr>
            <a:r>
              <a:rPr lang="en-IN" sz="3600" b="0" i="0" dirty="0">
                <a:solidFill>
                  <a:srgbClr val="000000"/>
                </a:solidFill>
                <a:effectLst/>
                <a:latin typeface="ff1"/>
              </a:rPr>
              <a:t>face recognition technique." 2016 International Conference on </a:t>
            </a:r>
          </a:p>
          <a:p>
            <a:pPr marL="0" indent="0" algn="l">
              <a:buNone/>
            </a:pPr>
            <a:r>
              <a:rPr lang="en-IN" sz="3600" b="0" i="0" dirty="0">
                <a:solidFill>
                  <a:srgbClr val="000000"/>
                </a:solidFill>
                <a:effectLst/>
                <a:latin typeface="ff1"/>
              </a:rPr>
              <a:t>Information and Communication Technology Convergence (ICTC). </a:t>
            </a:r>
          </a:p>
          <a:p>
            <a:pPr marL="0" indent="0" algn="l">
              <a:buNone/>
            </a:pPr>
            <a:r>
              <a:rPr lang="en-IN" sz="3600" b="0" i="0" dirty="0">
                <a:solidFill>
                  <a:srgbClr val="000000"/>
                </a:solidFill>
                <a:effectLst/>
                <a:latin typeface="ff1"/>
              </a:rPr>
              <a:t>IEEE, 2016. </a:t>
            </a:r>
          </a:p>
          <a:p>
            <a:pPr marL="0" indent="0" algn="l">
              <a:buNone/>
            </a:pPr>
            <a:endParaRPr lang="en-IN" sz="3600" b="0" i="0" dirty="0">
              <a:solidFill>
                <a:srgbClr val="000000"/>
              </a:solidFill>
              <a:effectLst/>
              <a:latin typeface="ff1"/>
            </a:endParaRPr>
          </a:p>
          <a:p>
            <a:pPr marL="0" indent="0" algn="l">
              <a:buNone/>
            </a:pPr>
            <a:r>
              <a:rPr lang="en-IN" sz="3600" b="0" i="0" dirty="0">
                <a:solidFill>
                  <a:srgbClr val="000000"/>
                </a:solidFill>
                <a:effectLst/>
                <a:latin typeface="ff1"/>
              </a:rPr>
              <a:t>[8] https://becominghuman.ai/face-detection-using-opencv-with-haar-</a:t>
            </a:r>
          </a:p>
          <a:p>
            <a:pPr marL="0" indent="0" algn="l">
              <a:buNone/>
            </a:pPr>
            <a:r>
              <a:rPr lang="en-IN" sz="3600" b="0" i="0" dirty="0">
                <a:solidFill>
                  <a:srgbClr val="000000"/>
                </a:solidFill>
                <a:effectLst/>
                <a:latin typeface="ff1"/>
              </a:rPr>
              <a:t>cascade-classifiers-941dbb25177 </a:t>
            </a:r>
          </a:p>
          <a:p>
            <a:pPr marL="0" indent="0" algn="l">
              <a:buNone/>
            </a:pPr>
            <a:endParaRPr lang="en-IN" sz="3600" b="0" i="0" dirty="0">
              <a:solidFill>
                <a:srgbClr val="000000"/>
              </a:solidFill>
              <a:effectLst/>
              <a:latin typeface="ff1"/>
            </a:endParaRPr>
          </a:p>
          <a:p>
            <a:pPr marL="0" indent="0" algn="l">
              <a:buNone/>
            </a:pPr>
            <a:r>
              <a:rPr lang="en-IN" sz="3600" b="0" i="0" dirty="0">
                <a:solidFill>
                  <a:srgbClr val="000000"/>
                </a:solidFill>
                <a:effectLst/>
                <a:latin typeface="ff1"/>
              </a:rPr>
              <a:t>[9] https://www.superdatascience.com/blogs/opencv-face-recognition</a:t>
            </a:r>
          </a:p>
          <a:p>
            <a:pPr marL="0" indent="0" algn="l">
              <a:buNone/>
            </a:pPr>
            <a:r>
              <a:rPr lang="en-IN" sz="3600" b="0" i="0" dirty="0">
                <a:solidFill>
                  <a:srgbClr val="000000"/>
                </a:solidFill>
                <a:effectLst/>
                <a:latin typeface="ff1"/>
              </a:rPr>
              <a:t> </a:t>
            </a:r>
          </a:p>
          <a:p>
            <a:pPr marL="0" indent="0" algn="l">
              <a:buNone/>
            </a:pPr>
            <a:r>
              <a:rPr lang="en-IN" sz="3600" b="0" i="0" dirty="0">
                <a:solidFill>
                  <a:srgbClr val="000000"/>
                </a:solidFill>
                <a:effectLst/>
                <a:latin typeface="ff1"/>
              </a:rPr>
              <a:t>[10] Salim, Omar Abdul </a:t>
            </a:r>
            <a:r>
              <a:rPr lang="en-IN" sz="3600" b="0" i="0" dirty="0" err="1">
                <a:solidFill>
                  <a:srgbClr val="000000"/>
                </a:solidFill>
                <a:effectLst/>
                <a:latin typeface="ff1"/>
              </a:rPr>
              <a:t>Rhman</a:t>
            </a:r>
            <a:r>
              <a:rPr lang="en-IN" sz="3600" b="0" i="0" dirty="0">
                <a:solidFill>
                  <a:srgbClr val="000000"/>
                </a:solidFill>
                <a:effectLst/>
                <a:latin typeface="ff1"/>
              </a:rPr>
              <a:t>, </a:t>
            </a:r>
            <a:r>
              <a:rPr lang="en-IN" sz="3600" b="0" i="0" dirty="0" err="1">
                <a:solidFill>
                  <a:srgbClr val="000000"/>
                </a:solidFill>
                <a:effectLst/>
                <a:latin typeface="ff1"/>
              </a:rPr>
              <a:t>Rashidah</a:t>
            </a:r>
            <a:r>
              <a:rPr lang="en-IN" sz="3600" b="0" i="0" dirty="0">
                <a:solidFill>
                  <a:srgbClr val="000000"/>
                </a:solidFill>
                <a:effectLst/>
                <a:latin typeface="ff1"/>
              </a:rPr>
              <a:t> Funke Olanrewaju, and </a:t>
            </a:r>
            <a:r>
              <a:rPr lang="en-IN" sz="3600" b="0" i="0" dirty="0" err="1">
                <a:solidFill>
                  <a:srgbClr val="000000"/>
                </a:solidFill>
                <a:effectLst/>
                <a:latin typeface="ff1"/>
              </a:rPr>
              <a:t>Wasiu</a:t>
            </a:r>
            <a:r>
              <a:rPr lang="en-IN" sz="3600" b="0" i="0" dirty="0">
                <a:solidFill>
                  <a:srgbClr val="000000"/>
                </a:solidFill>
                <a:effectLst/>
                <a:latin typeface="ff1"/>
              </a:rPr>
              <a:t> </a:t>
            </a:r>
          </a:p>
          <a:p>
            <a:pPr marL="0" indent="0" algn="l">
              <a:buNone/>
            </a:pPr>
            <a:r>
              <a:rPr lang="en-IN" sz="3600" b="0" i="0" dirty="0">
                <a:solidFill>
                  <a:srgbClr val="000000"/>
                </a:solidFill>
                <a:effectLst/>
                <a:latin typeface="ff1"/>
              </a:rPr>
              <a:t>Adebayo Balogun. "Class attendance management system using face </a:t>
            </a:r>
          </a:p>
          <a:p>
            <a:pPr marL="0" indent="0" algn="l">
              <a:buNone/>
            </a:pPr>
            <a:r>
              <a:rPr lang="en-IN" sz="3600" b="0" i="0" dirty="0">
                <a:solidFill>
                  <a:srgbClr val="000000"/>
                </a:solidFill>
                <a:effectLst/>
                <a:latin typeface="ff1"/>
              </a:rPr>
              <a:t>recognition." 2018 7th International Conference on Computer and </a:t>
            </a:r>
          </a:p>
          <a:p>
            <a:pPr marL="0" indent="0" algn="l">
              <a:buNone/>
            </a:pPr>
            <a:r>
              <a:rPr lang="en-IN" sz="3600" b="0" i="0" dirty="0">
                <a:solidFill>
                  <a:srgbClr val="000000"/>
                </a:solidFill>
                <a:effectLst/>
                <a:latin typeface="ff1"/>
              </a:rPr>
              <a:t>Communication Engineering (ICCCE). IEEE, 2018.</a:t>
            </a:r>
          </a:p>
          <a:p>
            <a:pPr marL="0" indent="0">
              <a:buNone/>
            </a:pPr>
            <a:endParaRPr lang="en-IN" sz="1800" dirty="0"/>
          </a:p>
          <a:p>
            <a:endParaRPr lang="en-IN" dirty="0"/>
          </a:p>
        </p:txBody>
      </p:sp>
    </p:spTree>
    <p:extLst>
      <p:ext uri="{BB962C8B-B14F-4D97-AF65-F5344CB8AC3E}">
        <p14:creationId xmlns:p14="http://schemas.microsoft.com/office/powerpoint/2010/main" val="3536453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AD261-F7A5-4070-88A3-C8E2E5D1442B}"/>
              </a:ext>
            </a:extLst>
          </p:cNvPr>
          <p:cNvSpPr>
            <a:spLocks noGrp="1"/>
          </p:cNvSpPr>
          <p:nvPr>
            <p:ph type="title"/>
          </p:nvPr>
        </p:nvSpPr>
        <p:spPr>
          <a:xfrm>
            <a:off x="1979345" y="373134"/>
            <a:ext cx="7729728" cy="991839"/>
          </a:xfrm>
        </p:spPr>
        <p:txBody>
          <a:bodyPr>
            <a:normAutofit/>
          </a:bodyPr>
          <a:lstStyle/>
          <a:p>
            <a:r>
              <a:rPr lang="en-IN" sz="3600" b="1" dirty="0">
                <a:effectLst/>
                <a:latin typeface="Times New Roman" panose="02020603050405020304" pitchFamily="18" charset="0"/>
                <a:ea typeface="Times New Roman" panose="02020603050405020304" pitchFamily="18" charset="0"/>
                <a:cs typeface="Times New Roman" panose="02020603050405020304" pitchFamily="18" charset="0"/>
              </a:rPr>
              <a:t>1.4.Overview</a:t>
            </a:r>
            <a:endParaRPr lang="en-IN" sz="3600" b="1" dirty="0"/>
          </a:p>
        </p:txBody>
      </p:sp>
      <p:sp>
        <p:nvSpPr>
          <p:cNvPr id="8" name="Content Placeholder 2">
            <a:extLst>
              <a:ext uri="{FF2B5EF4-FFF2-40B4-BE49-F238E27FC236}">
                <a16:creationId xmlns:a16="http://schemas.microsoft.com/office/drawing/2014/main" id="{C66D2E11-7B61-4FA6-9B5F-C31283268D47}"/>
              </a:ext>
            </a:extLst>
          </p:cNvPr>
          <p:cNvSpPr>
            <a:spLocks noGrp="1"/>
          </p:cNvSpPr>
          <p:nvPr>
            <p:ph idx="1"/>
          </p:nvPr>
        </p:nvSpPr>
        <p:spPr>
          <a:xfrm>
            <a:off x="1979345" y="1869417"/>
            <a:ext cx="8026046" cy="4173574"/>
          </a:xfrm>
        </p:spPr>
        <p:txBody>
          <a:bodyPr>
            <a:normAutofit/>
          </a:bodyPr>
          <a:lstStyle/>
          <a:p>
            <a:r>
              <a:rPr lang="en-IN" sz="2400" dirty="0"/>
              <a:t>We can register a new a student in the student database by the using the password for registration of the new student.</a:t>
            </a:r>
          </a:p>
          <a:p>
            <a:r>
              <a:rPr lang="en-IN" sz="2400" dirty="0"/>
              <a:t>A registered student can simply mark his or her attendance just by clicking on the button </a:t>
            </a:r>
            <a:r>
              <a:rPr lang="en-IN" sz="2400" b="1" dirty="0"/>
              <a:t>take attendance</a:t>
            </a:r>
            <a:r>
              <a:rPr lang="en-IN" sz="2400" dirty="0"/>
              <a:t>, and showing his/her face on the camera and then the system will identify the face and mark the attendance. </a:t>
            </a:r>
            <a:endParaRPr lang="en-IN" sz="2400" b="1" dirty="0"/>
          </a:p>
        </p:txBody>
      </p:sp>
    </p:spTree>
    <p:extLst>
      <p:ext uri="{BB962C8B-B14F-4D97-AF65-F5344CB8AC3E}">
        <p14:creationId xmlns:p14="http://schemas.microsoft.com/office/powerpoint/2010/main" val="1955962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E8997-B9DB-48A2-9B04-23FAF4C6B520}"/>
              </a:ext>
            </a:extLst>
          </p:cNvPr>
          <p:cNvSpPr>
            <a:spLocks noGrp="1"/>
          </p:cNvSpPr>
          <p:nvPr>
            <p:ph type="title"/>
          </p:nvPr>
        </p:nvSpPr>
        <p:spPr>
          <a:xfrm>
            <a:off x="2231136" y="523613"/>
            <a:ext cx="7729728" cy="1188720"/>
          </a:xfrm>
        </p:spPr>
        <p:txBody>
          <a:bodyPr>
            <a:noAutofit/>
          </a:bodyPr>
          <a:lstStyle/>
          <a:p>
            <a:r>
              <a:rPr lang="en-IN" sz="3200" b="1" u="sng" dirty="0">
                <a:effectLst/>
                <a:latin typeface="Times New Roman" panose="02020603050405020304" pitchFamily="18" charset="0"/>
                <a:ea typeface="Calibri" panose="020F0502020204030204" pitchFamily="34" charset="0"/>
                <a:cs typeface="Times New Roman" panose="02020603050405020304" pitchFamily="18" charset="0"/>
              </a:rPr>
              <a:t>2.Current System Architecture </a:t>
            </a:r>
            <a:endParaRPr lang="en-IN" sz="4400" b="1" u="sng" dirty="0"/>
          </a:p>
        </p:txBody>
      </p:sp>
      <p:sp>
        <p:nvSpPr>
          <p:cNvPr id="3" name="Content Placeholder 2">
            <a:extLst>
              <a:ext uri="{FF2B5EF4-FFF2-40B4-BE49-F238E27FC236}">
                <a16:creationId xmlns:a16="http://schemas.microsoft.com/office/drawing/2014/main" id="{55AFFFD4-7B23-4C97-8AAD-203671CC7602}"/>
              </a:ext>
            </a:extLst>
          </p:cNvPr>
          <p:cNvSpPr>
            <a:spLocks noGrp="1"/>
          </p:cNvSpPr>
          <p:nvPr>
            <p:ph idx="1"/>
          </p:nvPr>
        </p:nvSpPr>
        <p:spPr>
          <a:xfrm>
            <a:off x="1314449" y="2171700"/>
            <a:ext cx="5444159" cy="3566491"/>
          </a:xfrm>
        </p:spPr>
        <p:txBody>
          <a:bodyPr>
            <a:normAutofit/>
          </a:bodyPr>
          <a:lstStyle/>
          <a:p>
            <a:pPr marL="0" indent="0">
              <a:buNone/>
            </a:pPr>
            <a:r>
              <a:rPr lang="en-US" sz="2400" dirty="0"/>
              <a:t>The current system of taking attendance is of pen and paper method where teachers use to call the names or roll number of the students and the students are supposed to answer present and if some one have not answered he or she will be simply marked absent. This method consumes time and often creates a chaos in the class during the time of attendance.</a:t>
            </a:r>
            <a:endParaRPr lang="en-IN" sz="2400" dirty="0"/>
          </a:p>
        </p:txBody>
      </p:sp>
      <p:pic>
        <p:nvPicPr>
          <p:cNvPr id="1026" name="Picture 2" descr="teacher checking attendance register school class Stock Footage Video (100%  Royalty-free) 1031122478 | Shutterstock">
            <a:extLst>
              <a:ext uri="{FF2B5EF4-FFF2-40B4-BE49-F238E27FC236}">
                <a16:creationId xmlns:a16="http://schemas.microsoft.com/office/drawing/2014/main" id="{8A3504BD-9CC9-4282-AD1D-DA3FC2655C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174" y="2484227"/>
            <a:ext cx="4693536" cy="2475878"/>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309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16D3F1-00EE-4D77-AF46-F138A739EA11}"/>
              </a:ext>
            </a:extLst>
          </p:cNvPr>
          <p:cNvPicPr>
            <a:picLocks noChangeAspect="1"/>
          </p:cNvPicPr>
          <p:nvPr/>
        </p:nvPicPr>
        <p:blipFill>
          <a:blip r:embed="rId2"/>
          <a:stretch>
            <a:fillRect/>
          </a:stretch>
        </p:blipFill>
        <p:spPr>
          <a:xfrm>
            <a:off x="2469675" y="1536985"/>
            <a:ext cx="6682596" cy="4987637"/>
          </a:xfrm>
          <a:prstGeom prst="rect">
            <a:avLst/>
          </a:prstGeom>
        </p:spPr>
      </p:pic>
      <p:sp>
        <p:nvSpPr>
          <p:cNvPr id="8" name="Title 1">
            <a:extLst>
              <a:ext uri="{FF2B5EF4-FFF2-40B4-BE49-F238E27FC236}">
                <a16:creationId xmlns:a16="http://schemas.microsoft.com/office/drawing/2014/main" id="{1FDFB505-5C4C-40C5-B0D9-6F7118BA9637}"/>
              </a:ext>
            </a:extLst>
          </p:cNvPr>
          <p:cNvSpPr>
            <a:spLocks noGrp="1"/>
          </p:cNvSpPr>
          <p:nvPr>
            <p:ph type="title"/>
          </p:nvPr>
        </p:nvSpPr>
        <p:spPr>
          <a:xfrm>
            <a:off x="1934818" y="333378"/>
            <a:ext cx="7832034" cy="885821"/>
          </a:xfrm>
        </p:spPr>
        <p:txBody>
          <a:bodyPr>
            <a:normAutofit fontScale="90000"/>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Teacher taking attendance in a class room</a:t>
            </a:r>
            <a:endParaRPr lang="en-IN" b="1" dirty="0"/>
          </a:p>
        </p:txBody>
      </p:sp>
    </p:spTree>
    <p:extLst>
      <p:ext uri="{BB962C8B-B14F-4D97-AF65-F5344CB8AC3E}">
        <p14:creationId xmlns:p14="http://schemas.microsoft.com/office/powerpoint/2010/main" val="1219972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FC1F-C2F2-41AF-BC8F-D2817C474E48}"/>
              </a:ext>
            </a:extLst>
          </p:cNvPr>
          <p:cNvSpPr>
            <a:spLocks noGrp="1"/>
          </p:cNvSpPr>
          <p:nvPr>
            <p:ph type="title"/>
          </p:nvPr>
        </p:nvSpPr>
        <p:spPr>
          <a:xfrm>
            <a:off x="1538458" y="215705"/>
            <a:ext cx="8450116" cy="755373"/>
          </a:xfrm>
        </p:spPr>
        <p:txBody>
          <a:bodyPr>
            <a:noAutofit/>
          </a:bodyPr>
          <a:lstStyle/>
          <a:p>
            <a:r>
              <a:rPr lang="en-IN" b="1" u="sng" dirty="0">
                <a:effectLst/>
                <a:latin typeface="Times New Roman" panose="02020603050405020304" pitchFamily="18" charset="0"/>
                <a:ea typeface="Calibri" panose="020F0502020204030204" pitchFamily="34" charset="0"/>
                <a:cs typeface="Times New Roman" panose="02020603050405020304" pitchFamily="18" charset="0"/>
              </a:rPr>
              <a:t>3.Proposed Software Architecture </a:t>
            </a:r>
            <a:endParaRPr lang="en-IN" sz="4000" b="1" u="sng" dirty="0"/>
          </a:p>
        </p:txBody>
      </p:sp>
      <p:pic>
        <p:nvPicPr>
          <p:cNvPr id="4" name="Picture 3">
            <a:extLst>
              <a:ext uri="{FF2B5EF4-FFF2-40B4-BE49-F238E27FC236}">
                <a16:creationId xmlns:a16="http://schemas.microsoft.com/office/drawing/2014/main" id="{DBDDCCD1-3442-46B2-B664-780E02FCA233}"/>
              </a:ext>
            </a:extLst>
          </p:cNvPr>
          <p:cNvPicPr>
            <a:picLocks noChangeAspect="1"/>
          </p:cNvPicPr>
          <p:nvPr/>
        </p:nvPicPr>
        <p:blipFill>
          <a:blip r:embed="rId2"/>
          <a:stretch>
            <a:fillRect/>
          </a:stretch>
        </p:blipFill>
        <p:spPr>
          <a:xfrm>
            <a:off x="3167630" y="1143487"/>
            <a:ext cx="5255934" cy="5642227"/>
          </a:xfrm>
          <a:prstGeom prst="rect">
            <a:avLst/>
          </a:prstGeom>
        </p:spPr>
      </p:pic>
    </p:spTree>
    <p:extLst>
      <p:ext uri="{BB962C8B-B14F-4D97-AF65-F5344CB8AC3E}">
        <p14:creationId xmlns:p14="http://schemas.microsoft.com/office/powerpoint/2010/main" val="410974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AD261-F7A5-4070-88A3-C8E2E5D1442B}"/>
              </a:ext>
            </a:extLst>
          </p:cNvPr>
          <p:cNvSpPr>
            <a:spLocks noGrp="1"/>
          </p:cNvSpPr>
          <p:nvPr>
            <p:ph type="title"/>
          </p:nvPr>
        </p:nvSpPr>
        <p:spPr>
          <a:xfrm>
            <a:off x="1979345" y="333379"/>
            <a:ext cx="7729728" cy="744838"/>
          </a:xfrm>
        </p:spPr>
        <p:txBody>
          <a:bodyPr>
            <a:normAutofit fontScale="90000"/>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3.1.</a:t>
            </a: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Overview</a:t>
            </a:r>
            <a:endParaRPr lang="en-IN" b="1" dirty="0"/>
          </a:p>
        </p:txBody>
      </p:sp>
      <p:sp>
        <p:nvSpPr>
          <p:cNvPr id="8" name="Content Placeholder 2">
            <a:extLst>
              <a:ext uri="{FF2B5EF4-FFF2-40B4-BE49-F238E27FC236}">
                <a16:creationId xmlns:a16="http://schemas.microsoft.com/office/drawing/2014/main" id="{C66D2E11-7B61-4FA6-9B5F-C31283268D47}"/>
              </a:ext>
            </a:extLst>
          </p:cNvPr>
          <p:cNvSpPr>
            <a:spLocks noGrp="1"/>
          </p:cNvSpPr>
          <p:nvPr>
            <p:ph idx="1"/>
          </p:nvPr>
        </p:nvSpPr>
        <p:spPr>
          <a:xfrm>
            <a:off x="1979344" y="1538112"/>
            <a:ext cx="8383855" cy="4730166"/>
          </a:xfrm>
        </p:spPr>
        <p:txBody>
          <a:bodyPr>
            <a:normAutofit lnSpcReduction="10000"/>
          </a:bodyPr>
          <a:lstStyle/>
          <a:p>
            <a:pPr algn="just">
              <a:buClrTx/>
            </a:pPr>
            <a:r>
              <a:rPr lang="en-US" sz="2400" dirty="0"/>
              <a:t>When we run the program,  a window will get opened. In it we can find certain options or buttons and text fields for different purposes.</a:t>
            </a:r>
          </a:p>
          <a:p>
            <a:pPr algn="just">
              <a:buClrTx/>
            </a:pPr>
            <a:r>
              <a:rPr lang="en-IN" sz="2400" dirty="0"/>
              <a:t>We can register a new a student in the student database by the help of the admin who has the password for registration of the new student, while registering the system ask for the student to enter </a:t>
            </a:r>
            <a:r>
              <a:rPr lang="en-IN" sz="2400" b="1" dirty="0"/>
              <a:t>ID</a:t>
            </a:r>
            <a:r>
              <a:rPr lang="en-IN" sz="2400" dirty="0"/>
              <a:t> and </a:t>
            </a:r>
            <a:r>
              <a:rPr lang="en-IN" sz="2400" b="1" dirty="0"/>
              <a:t>name </a:t>
            </a:r>
            <a:r>
              <a:rPr lang="en-IN" sz="2400" dirty="0"/>
              <a:t>and after that system takes multiple images of the student and stores in a file(database).</a:t>
            </a:r>
            <a:endParaRPr lang="en-IN" sz="2400" b="1" dirty="0"/>
          </a:p>
          <a:p>
            <a:pPr algn="just">
              <a:buClrTx/>
            </a:pPr>
            <a:r>
              <a:rPr lang="en-IN" sz="2400" dirty="0"/>
              <a:t>A registered student can simply mark his or her attendance just by clicking on the button </a:t>
            </a:r>
            <a:r>
              <a:rPr lang="en-IN" sz="2400" b="1" dirty="0"/>
              <a:t>take attendance</a:t>
            </a:r>
            <a:r>
              <a:rPr lang="en-IN" sz="2400" dirty="0"/>
              <a:t>, and showing his/her face on the camera and then the system will identify the face and mark the attendance automatically in a CSV file(attendance recorded separately date wise).</a:t>
            </a:r>
            <a:endParaRPr lang="en-IN" sz="2400" b="1" dirty="0"/>
          </a:p>
        </p:txBody>
      </p:sp>
    </p:spTree>
    <p:extLst>
      <p:ext uri="{BB962C8B-B14F-4D97-AF65-F5344CB8AC3E}">
        <p14:creationId xmlns:p14="http://schemas.microsoft.com/office/powerpoint/2010/main" val="1301903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5944-111B-4DDF-A0FF-6504B81E6546}"/>
              </a:ext>
            </a:extLst>
          </p:cNvPr>
          <p:cNvSpPr>
            <a:spLocks noGrp="1"/>
          </p:cNvSpPr>
          <p:nvPr>
            <p:ph type="title"/>
          </p:nvPr>
        </p:nvSpPr>
        <p:spPr>
          <a:xfrm>
            <a:off x="1815548" y="434604"/>
            <a:ext cx="8534400" cy="1062891"/>
          </a:xfrm>
        </p:spPr>
        <p:txBody>
          <a:bodyPr>
            <a:normAutofit fontScale="90000"/>
          </a:bodyPr>
          <a:lstStyle/>
          <a:p>
            <a:r>
              <a:rPr lang="en-IN" b="1" dirty="0"/>
              <a:t>Working of Face Recognition attendance system</a:t>
            </a:r>
          </a:p>
        </p:txBody>
      </p:sp>
      <p:pic>
        <p:nvPicPr>
          <p:cNvPr id="5" name="Picture 4">
            <a:extLst>
              <a:ext uri="{FF2B5EF4-FFF2-40B4-BE49-F238E27FC236}">
                <a16:creationId xmlns:a16="http://schemas.microsoft.com/office/drawing/2014/main" id="{136528BE-4E68-43C5-9AC3-9A7DEDD578C5}"/>
              </a:ext>
            </a:extLst>
          </p:cNvPr>
          <p:cNvPicPr>
            <a:picLocks noChangeAspect="1"/>
          </p:cNvPicPr>
          <p:nvPr/>
        </p:nvPicPr>
        <p:blipFill>
          <a:blip r:embed="rId2"/>
          <a:stretch>
            <a:fillRect/>
          </a:stretch>
        </p:blipFill>
        <p:spPr>
          <a:xfrm>
            <a:off x="2702870" y="1638862"/>
            <a:ext cx="6005188" cy="4784533"/>
          </a:xfrm>
          <a:prstGeom prst="rect">
            <a:avLst/>
          </a:prstGeom>
        </p:spPr>
      </p:pic>
    </p:spTree>
    <p:extLst>
      <p:ext uri="{BB962C8B-B14F-4D97-AF65-F5344CB8AC3E}">
        <p14:creationId xmlns:p14="http://schemas.microsoft.com/office/powerpoint/2010/main" val="3676835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AA10-24A1-43E0-BB7F-B78853DFB3C4}"/>
              </a:ext>
            </a:extLst>
          </p:cNvPr>
          <p:cNvSpPr>
            <a:spLocks noGrp="1"/>
          </p:cNvSpPr>
          <p:nvPr>
            <p:ph type="title"/>
          </p:nvPr>
        </p:nvSpPr>
        <p:spPr>
          <a:xfrm>
            <a:off x="1581779" y="441232"/>
            <a:ext cx="7729728" cy="718334"/>
          </a:xfrm>
        </p:spPr>
        <p:txBody>
          <a:bodyPr>
            <a:normAutofit fontScale="90000"/>
          </a:bodyPr>
          <a:lstStyle/>
          <a:p>
            <a:r>
              <a:rPr lang="en-US" dirty="0"/>
              <a:t>Face Detection and Recognition Flow Diagram</a:t>
            </a:r>
            <a:endParaRPr lang="en-IN" dirty="0"/>
          </a:p>
        </p:txBody>
      </p:sp>
      <p:pic>
        <p:nvPicPr>
          <p:cNvPr id="5" name="Picture 4">
            <a:extLst>
              <a:ext uri="{FF2B5EF4-FFF2-40B4-BE49-F238E27FC236}">
                <a16:creationId xmlns:a16="http://schemas.microsoft.com/office/drawing/2014/main" id="{A235DB53-630B-4DD7-909A-9183B96A7578}"/>
              </a:ext>
            </a:extLst>
          </p:cNvPr>
          <p:cNvPicPr>
            <a:picLocks noChangeAspect="1"/>
          </p:cNvPicPr>
          <p:nvPr/>
        </p:nvPicPr>
        <p:blipFill>
          <a:blip r:embed="rId2"/>
          <a:stretch>
            <a:fillRect/>
          </a:stretch>
        </p:blipFill>
        <p:spPr>
          <a:xfrm>
            <a:off x="1744437" y="1907518"/>
            <a:ext cx="8181583" cy="3433108"/>
          </a:xfrm>
          <a:prstGeom prst="rect">
            <a:avLst/>
          </a:prstGeom>
        </p:spPr>
      </p:pic>
    </p:spTree>
    <p:extLst>
      <p:ext uri="{BB962C8B-B14F-4D97-AF65-F5344CB8AC3E}">
        <p14:creationId xmlns:p14="http://schemas.microsoft.com/office/powerpoint/2010/main" val="1372916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FE37-B69C-40E6-9809-5405F8B47222}"/>
              </a:ext>
            </a:extLst>
          </p:cNvPr>
          <p:cNvSpPr>
            <a:spLocks noGrp="1"/>
          </p:cNvSpPr>
          <p:nvPr>
            <p:ph type="title"/>
          </p:nvPr>
        </p:nvSpPr>
        <p:spPr>
          <a:xfrm>
            <a:off x="2045605" y="523613"/>
            <a:ext cx="7729728" cy="1188720"/>
          </a:xfrm>
        </p:spPr>
        <p:txBody>
          <a:bodyPr>
            <a:normAutofit/>
          </a:bodyPr>
          <a:lstStyle/>
          <a:p>
            <a:r>
              <a:rPr lang="en-IN" b="1" dirty="0">
                <a:effectLst/>
                <a:latin typeface="Times New Roman" panose="02020603050405020304" pitchFamily="18" charset="0"/>
                <a:ea typeface="Calibri" panose="020F0502020204030204" pitchFamily="34" charset="0"/>
              </a:rPr>
              <a:t>3.2.Persistent data mapping </a:t>
            </a:r>
            <a:endParaRPr lang="en-IN" sz="4000" b="1" dirty="0"/>
          </a:p>
        </p:txBody>
      </p:sp>
      <p:sp>
        <p:nvSpPr>
          <p:cNvPr id="3" name="Content Placeholder 2">
            <a:extLst>
              <a:ext uri="{FF2B5EF4-FFF2-40B4-BE49-F238E27FC236}">
                <a16:creationId xmlns:a16="http://schemas.microsoft.com/office/drawing/2014/main" id="{3398CCCE-26F4-4CE4-AD84-E0C43846DABC}"/>
              </a:ext>
            </a:extLst>
          </p:cNvPr>
          <p:cNvSpPr>
            <a:spLocks noGrp="1"/>
          </p:cNvSpPr>
          <p:nvPr>
            <p:ph idx="1"/>
          </p:nvPr>
        </p:nvSpPr>
        <p:spPr>
          <a:xfrm>
            <a:off x="2045605" y="2213975"/>
            <a:ext cx="7729728" cy="3101983"/>
          </a:xfrm>
        </p:spPr>
        <p:txBody>
          <a:bodyPr>
            <a:normAutofit/>
          </a:bodyPr>
          <a:lstStyle/>
          <a:p>
            <a:r>
              <a:rPr lang="en-US" sz="2800" dirty="0"/>
              <a:t>The registered students data is stored in a CSV file.</a:t>
            </a:r>
          </a:p>
          <a:p>
            <a:r>
              <a:rPr lang="en-US" sz="2800" dirty="0"/>
              <a:t>And the Attendance of the students are marked too in a CSV file.</a:t>
            </a:r>
          </a:p>
          <a:p>
            <a:r>
              <a:rPr lang="en-US" sz="2800" dirty="0"/>
              <a:t>The attendance is marked for different dates in separate CSV files.</a:t>
            </a:r>
            <a:endParaRPr lang="en-IN" sz="2800" dirty="0"/>
          </a:p>
        </p:txBody>
      </p:sp>
    </p:spTree>
    <p:extLst>
      <p:ext uri="{BB962C8B-B14F-4D97-AF65-F5344CB8AC3E}">
        <p14:creationId xmlns:p14="http://schemas.microsoft.com/office/powerpoint/2010/main" val="810346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B8534-A8BC-4A66-B4E8-7BD3A3AFCC4D}"/>
              </a:ext>
            </a:extLst>
          </p:cNvPr>
          <p:cNvSpPr>
            <a:spLocks noGrp="1"/>
          </p:cNvSpPr>
          <p:nvPr>
            <p:ph type="title"/>
          </p:nvPr>
        </p:nvSpPr>
        <p:spPr/>
        <p:txBody>
          <a:bodyPr>
            <a:normAutofit/>
          </a:bodyPr>
          <a:lstStyle/>
          <a:p>
            <a:r>
              <a:rPr lang="en-IN" sz="2400" b="1" dirty="0">
                <a:effectLst/>
                <a:latin typeface="Times New Roman" panose="02020603050405020304" pitchFamily="18" charset="0"/>
                <a:ea typeface="Calibri" panose="020F0502020204030204" pitchFamily="34" charset="0"/>
              </a:rPr>
              <a:t>3.3.Access control and Security </a:t>
            </a:r>
            <a:endParaRPr lang="en-IN" sz="3600" b="1" dirty="0"/>
          </a:p>
        </p:txBody>
      </p:sp>
      <p:sp>
        <p:nvSpPr>
          <p:cNvPr id="3" name="Content Placeholder 2">
            <a:extLst>
              <a:ext uri="{FF2B5EF4-FFF2-40B4-BE49-F238E27FC236}">
                <a16:creationId xmlns:a16="http://schemas.microsoft.com/office/drawing/2014/main" id="{8DC4DF8E-099C-4350-8A37-33D352D15B94}"/>
              </a:ext>
            </a:extLst>
          </p:cNvPr>
          <p:cNvSpPr>
            <a:spLocks noGrp="1"/>
          </p:cNvSpPr>
          <p:nvPr>
            <p:ph idx="1"/>
          </p:nvPr>
        </p:nvSpPr>
        <p:spPr>
          <a:xfrm>
            <a:off x="2231136" y="2585035"/>
            <a:ext cx="7729728" cy="3308273"/>
          </a:xfrm>
        </p:spPr>
        <p:txBody>
          <a:bodyPr>
            <a:normAutofit fontScale="92500"/>
          </a:bodyPr>
          <a:lstStyle/>
          <a:p>
            <a:r>
              <a:rPr lang="en-US" sz="2400" dirty="0"/>
              <a:t>The details of he students can only be accessed by the teachers or the admin.</a:t>
            </a:r>
          </a:p>
          <a:p>
            <a:r>
              <a:rPr lang="en-US" sz="2400" dirty="0"/>
              <a:t>For security there must be a password in the PC from which this project(System) is being executed.</a:t>
            </a:r>
          </a:p>
          <a:p>
            <a:r>
              <a:rPr lang="en-US" sz="2400" dirty="0"/>
              <a:t>And while registration of students a password is required which only the admin knows or the teacher, and that password can be changed accordingly by the admin/teacher.</a:t>
            </a:r>
          </a:p>
          <a:p>
            <a:r>
              <a:rPr lang="en-US" sz="2400" dirty="0"/>
              <a:t>This details can be accessed by the admin/teacher.</a:t>
            </a:r>
            <a:endParaRPr lang="en-IN" sz="2400" dirty="0"/>
          </a:p>
        </p:txBody>
      </p:sp>
    </p:spTree>
    <p:extLst>
      <p:ext uri="{BB962C8B-B14F-4D97-AF65-F5344CB8AC3E}">
        <p14:creationId xmlns:p14="http://schemas.microsoft.com/office/powerpoint/2010/main" val="2557287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1D1E5-96BF-45A5-841F-D94D090DECBC}"/>
              </a:ext>
            </a:extLst>
          </p:cNvPr>
          <p:cNvSpPr>
            <a:spLocks noGrp="1"/>
          </p:cNvSpPr>
          <p:nvPr>
            <p:ph type="title"/>
          </p:nvPr>
        </p:nvSpPr>
        <p:spPr>
          <a:xfrm>
            <a:off x="1482437" y="2199861"/>
            <a:ext cx="8880209" cy="1563756"/>
          </a:xfrm>
        </p:spPr>
        <p:txBody>
          <a:bodyPr>
            <a:normAutofit fontScale="90000"/>
          </a:bodyPr>
          <a:lstStyle/>
          <a:p>
            <a:r>
              <a:rPr lang="en-IN" sz="6600" dirty="0"/>
              <a:t>Sample screens</a:t>
            </a:r>
            <a:r>
              <a:rPr lang="en-IN" sz="8800" dirty="0"/>
              <a:t>:</a:t>
            </a:r>
          </a:p>
        </p:txBody>
      </p:sp>
    </p:spTree>
    <p:extLst>
      <p:ext uri="{BB962C8B-B14F-4D97-AF65-F5344CB8AC3E}">
        <p14:creationId xmlns:p14="http://schemas.microsoft.com/office/powerpoint/2010/main" val="780357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3C9AB-9B8F-4336-8330-D370DF3CB27F}"/>
              </a:ext>
            </a:extLst>
          </p:cNvPr>
          <p:cNvSpPr>
            <a:spLocks noGrp="1"/>
          </p:cNvSpPr>
          <p:nvPr>
            <p:ph type="title"/>
          </p:nvPr>
        </p:nvSpPr>
        <p:spPr>
          <a:xfrm>
            <a:off x="530087" y="503582"/>
            <a:ext cx="9318735" cy="830604"/>
          </a:xfrm>
        </p:spPr>
        <p:txBody>
          <a:bodyPr>
            <a:normAutofit/>
          </a:bodyPr>
          <a:lstStyle/>
          <a:p>
            <a:r>
              <a:rPr lang="en-IN" sz="2400" b="1" u="sng" dirty="0"/>
              <a:t>GUI OF THE SYSTEM(PROJECT)</a:t>
            </a:r>
          </a:p>
        </p:txBody>
      </p:sp>
      <p:pic>
        <p:nvPicPr>
          <p:cNvPr id="5" name="Content Placeholder 4">
            <a:extLst>
              <a:ext uri="{FF2B5EF4-FFF2-40B4-BE49-F238E27FC236}">
                <a16:creationId xmlns:a16="http://schemas.microsoft.com/office/drawing/2014/main" id="{F93CD1A2-34DA-4880-9258-39E71A17E637}"/>
              </a:ext>
            </a:extLst>
          </p:cNvPr>
          <p:cNvPicPr>
            <a:picLocks noGrp="1" noChangeAspect="1"/>
          </p:cNvPicPr>
          <p:nvPr>
            <p:ph idx="1"/>
          </p:nvPr>
        </p:nvPicPr>
        <p:blipFill>
          <a:blip r:embed="rId2"/>
          <a:stretch>
            <a:fillRect/>
          </a:stretch>
        </p:blipFill>
        <p:spPr>
          <a:xfrm>
            <a:off x="781878" y="1561551"/>
            <a:ext cx="9066944" cy="5097668"/>
          </a:xfrm>
        </p:spPr>
      </p:pic>
    </p:spTree>
    <p:extLst>
      <p:ext uri="{BB962C8B-B14F-4D97-AF65-F5344CB8AC3E}">
        <p14:creationId xmlns:p14="http://schemas.microsoft.com/office/powerpoint/2010/main" val="2599268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B6977-1628-41C3-9EB5-623093BC71BB}"/>
              </a:ext>
            </a:extLst>
          </p:cNvPr>
          <p:cNvSpPr>
            <a:spLocks noGrp="1"/>
          </p:cNvSpPr>
          <p:nvPr>
            <p:ph type="title"/>
          </p:nvPr>
        </p:nvSpPr>
        <p:spPr>
          <a:xfrm>
            <a:off x="1325217" y="492404"/>
            <a:ext cx="8635647" cy="625569"/>
          </a:xfrm>
        </p:spPr>
        <p:txBody>
          <a:bodyPr>
            <a:normAutofit fontScale="90000"/>
          </a:bodyPr>
          <a:lstStyle/>
          <a:p>
            <a:r>
              <a:rPr lang="en-US" b="1" dirty="0"/>
              <a:t>Registration of new student</a:t>
            </a:r>
            <a:endParaRPr lang="en-IN" b="1" dirty="0"/>
          </a:p>
        </p:txBody>
      </p:sp>
      <p:pic>
        <p:nvPicPr>
          <p:cNvPr id="5" name="Content Placeholder 4">
            <a:extLst>
              <a:ext uri="{FF2B5EF4-FFF2-40B4-BE49-F238E27FC236}">
                <a16:creationId xmlns:a16="http://schemas.microsoft.com/office/drawing/2014/main" id="{9E427066-9574-4D33-B8D7-E6AD4D7E69B8}"/>
              </a:ext>
            </a:extLst>
          </p:cNvPr>
          <p:cNvPicPr>
            <a:picLocks noGrp="1" noChangeAspect="1"/>
          </p:cNvPicPr>
          <p:nvPr>
            <p:ph idx="1"/>
          </p:nvPr>
        </p:nvPicPr>
        <p:blipFill>
          <a:blip r:embed="rId2"/>
          <a:stretch>
            <a:fillRect/>
          </a:stretch>
        </p:blipFill>
        <p:spPr>
          <a:xfrm>
            <a:off x="1481934" y="1444487"/>
            <a:ext cx="8131966" cy="4571999"/>
          </a:xfrm>
        </p:spPr>
      </p:pic>
    </p:spTree>
    <p:extLst>
      <p:ext uri="{BB962C8B-B14F-4D97-AF65-F5344CB8AC3E}">
        <p14:creationId xmlns:p14="http://schemas.microsoft.com/office/powerpoint/2010/main" val="23356635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0775-BD6C-4117-A7F7-B5EAAAA80948}"/>
              </a:ext>
            </a:extLst>
          </p:cNvPr>
          <p:cNvSpPr>
            <a:spLocks noGrp="1"/>
          </p:cNvSpPr>
          <p:nvPr>
            <p:ph type="title"/>
          </p:nvPr>
        </p:nvSpPr>
        <p:spPr>
          <a:xfrm>
            <a:off x="1908311" y="394849"/>
            <a:ext cx="7562221" cy="599065"/>
          </a:xfrm>
        </p:spPr>
        <p:txBody>
          <a:bodyPr>
            <a:normAutofit fontScale="90000"/>
          </a:bodyPr>
          <a:lstStyle/>
          <a:p>
            <a:r>
              <a:rPr lang="en-US" b="1" dirty="0"/>
              <a:t>Training images</a:t>
            </a:r>
            <a:endParaRPr lang="en-IN" b="1" dirty="0"/>
          </a:p>
        </p:txBody>
      </p:sp>
      <p:pic>
        <p:nvPicPr>
          <p:cNvPr id="5" name="Picture 4">
            <a:extLst>
              <a:ext uri="{FF2B5EF4-FFF2-40B4-BE49-F238E27FC236}">
                <a16:creationId xmlns:a16="http://schemas.microsoft.com/office/drawing/2014/main" id="{F10ADE2B-E65E-423E-AE93-219FEAB069B3}"/>
              </a:ext>
            </a:extLst>
          </p:cNvPr>
          <p:cNvPicPr>
            <a:picLocks noChangeAspect="1"/>
          </p:cNvPicPr>
          <p:nvPr/>
        </p:nvPicPr>
        <p:blipFill>
          <a:blip r:embed="rId2"/>
          <a:stretch>
            <a:fillRect/>
          </a:stretch>
        </p:blipFill>
        <p:spPr>
          <a:xfrm>
            <a:off x="834887" y="1087770"/>
            <a:ext cx="10071652" cy="5662539"/>
          </a:xfrm>
          <a:prstGeom prst="rect">
            <a:avLst/>
          </a:prstGeom>
        </p:spPr>
      </p:pic>
    </p:spTree>
    <p:extLst>
      <p:ext uri="{BB962C8B-B14F-4D97-AF65-F5344CB8AC3E}">
        <p14:creationId xmlns:p14="http://schemas.microsoft.com/office/powerpoint/2010/main" val="1101907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A1F7-6CC0-4AAE-8F4B-03A05CEF47AF}"/>
              </a:ext>
            </a:extLst>
          </p:cNvPr>
          <p:cNvSpPr>
            <a:spLocks noGrp="1"/>
          </p:cNvSpPr>
          <p:nvPr>
            <p:ph type="title"/>
          </p:nvPr>
        </p:nvSpPr>
        <p:spPr>
          <a:xfrm>
            <a:off x="1974574" y="752180"/>
            <a:ext cx="7986290" cy="731586"/>
          </a:xfrm>
        </p:spPr>
        <p:txBody>
          <a:bodyPr>
            <a:normAutofit fontScale="90000"/>
          </a:bodyPr>
          <a:lstStyle/>
          <a:p>
            <a:r>
              <a:rPr lang="en-US" b="1" dirty="0"/>
              <a:t>Taking attendance</a:t>
            </a:r>
            <a:endParaRPr lang="en-IN" b="1" dirty="0"/>
          </a:p>
        </p:txBody>
      </p:sp>
      <p:pic>
        <p:nvPicPr>
          <p:cNvPr id="5" name="Picture 4">
            <a:extLst>
              <a:ext uri="{FF2B5EF4-FFF2-40B4-BE49-F238E27FC236}">
                <a16:creationId xmlns:a16="http://schemas.microsoft.com/office/drawing/2014/main" id="{22896130-977F-469F-9B94-57E072C90029}"/>
              </a:ext>
            </a:extLst>
          </p:cNvPr>
          <p:cNvPicPr>
            <a:picLocks noChangeAspect="1"/>
          </p:cNvPicPr>
          <p:nvPr/>
        </p:nvPicPr>
        <p:blipFill>
          <a:blip r:embed="rId2"/>
          <a:stretch>
            <a:fillRect/>
          </a:stretch>
        </p:blipFill>
        <p:spPr>
          <a:xfrm>
            <a:off x="1974573" y="1815547"/>
            <a:ext cx="7986289" cy="4490096"/>
          </a:xfrm>
          <a:prstGeom prst="rect">
            <a:avLst/>
          </a:prstGeom>
        </p:spPr>
      </p:pic>
    </p:spTree>
    <p:extLst>
      <p:ext uri="{BB962C8B-B14F-4D97-AF65-F5344CB8AC3E}">
        <p14:creationId xmlns:p14="http://schemas.microsoft.com/office/powerpoint/2010/main" val="4044249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6B738-FE10-446D-B4D4-CA5F079BB673}"/>
              </a:ext>
            </a:extLst>
          </p:cNvPr>
          <p:cNvSpPr>
            <a:spLocks noGrp="1"/>
          </p:cNvSpPr>
          <p:nvPr>
            <p:ph type="title"/>
          </p:nvPr>
        </p:nvSpPr>
        <p:spPr>
          <a:xfrm>
            <a:off x="940904" y="319725"/>
            <a:ext cx="10535478" cy="901148"/>
          </a:xfrm>
        </p:spPr>
        <p:txBody>
          <a:bodyPr>
            <a:normAutofit fontScale="90000"/>
          </a:bodyPr>
          <a:lstStyle/>
          <a:p>
            <a:r>
              <a:rPr lang="en-US" b="1" dirty="0"/>
              <a:t>For students confirmation whether the attendance marked successfully</a:t>
            </a:r>
            <a:endParaRPr lang="en-IN" b="1" dirty="0"/>
          </a:p>
        </p:txBody>
      </p:sp>
      <p:pic>
        <p:nvPicPr>
          <p:cNvPr id="5" name="Picture 4">
            <a:extLst>
              <a:ext uri="{FF2B5EF4-FFF2-40B4-BE49-F238E27FC236}">
                <a16:creationId xmlns:a16="http://schemas.microsoft.com/office/drawing/2014/main" id="{932E9D54-2B9F-4A0E-9956-6B49A933E89F}"/>
              </a:ext>
            </a:extLst>
          </p:cNvPr>
          <p:cNvPicPr>
            <a:picLocks noChangeAspect="1"/>
          </p:cNvPicPr>
          <p:nvPr/>
        </p:nvPicPr>
        <p:blipFill>
          <a:blip r:embed="rId2"/>
          <a:stretch>
            <a:fillRect/>
          </a:stretch>
        </p:blipFill>
        <p:spPr>
          <a:xfrm>
            <a:off x="328752" y="1524000"/>
            <a:ext cx="9189685" cy="5166675"/>
          </a:xfrm>
          <a:prstGeom prst="rect">
            <a:avLst/>
          </a:prstGeom>
        </p:spPr>
      </p:pic>
      <p:sp>
        <p:nvSpPr>
          <p:cNvPr id="6" name="Rectangle 5">
            <a:extLst>
              <a:ext uri="{FF2B5EF4-FFF2-40B4-BE49-F238E27FC236}">
                <a16:creationId xmlns:a16="http://schemas.microsoft.com/office/drawing/2014/main" id="{8C8C5BD6-B202-4E8C-8A03-501512EF9106}"/>
              </a:ext>
            </a:extLst>
          </p:cNvPr>
          <p:cNvSpPr/>
          <p:nvPr/>
        </p:nvSpPr>
        <p:spPr>
          <a:xfrm>
            <a:off x="1789043" y="3429000"/>
            <a:ext cx="3379304" cy="2057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96739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9B517-6E7B-4E7A-B155-30FB8D145610}"/>
              </a:ext>
            </a:extLst>
          </p:cNvPr>
          <p:cNvSpPr>
            <a:spLocks noGrp="1"/>
          </p:cNvSpPr>
          <p:nvPr>
            <p:ph type="title"/>
          </p:nvPr>
        </p:nvSpPr>
        <p:spPr>
          <a:xfrm>
            <a:off x="2749824" y="243612"/>
            <a:ext cx="5055706" cy="697292"/>
          </a:xfrm>
        </p:spPr>
        <p:txBody>
          <a:bodyPr>
            <a:normAutofit fontScale="90000"/>
          </a:bodyPr>
          <a:lstStyle/>
          <a:p>
            <a:r>
              <a:rPr lang="en-US" b="1" dirty="0"/>
              <a:t>Attendance record (date wise separate)</a:t>
            </a:r>
            <a:endParaRPr lang="en-IN" b="1" dirty="0"/>
          </a:p>
        </p:txBody>
      </p:sp>
      <p:pic>
        <p:nvPicPr>
          <p:cNvPr id="6" name="Picture 5">
            <a:extLst>
              <a:ext uri="{FF2B5EF4-FFF2-40B4-BE49-F238E27FC236}">
                <a16:creationId xmlns:a16="http://schemas.microsoft.com/office/drawing/2014/main" id="{8666E377-7438-4D11-9973-5F2EE97582CB}"/>
              </a:ext>
            </a:extLst>
          </p:cNvPr>
          <p:cNvPicPr>
            <a:picLocks noChangeAspect="1"/>
          </p:cNvPicPr>
          <p:nvPr/>
        </p:nvPicPr>
        <p:blipFill>
          <a:blip r:embed="rId2"/>
          <a:stretch>
            <a:fillRect/>
          </a:stretch>
        </p:blipFill>
        <p:spPr>
          <a:xfrm>
            <a:off x="629477" y="1125658"/>
            <a:ext cx="9826488" cy="4320063"/>
          </a:xfrm>
          <a:prstGeom prst="rect">
            <a:avLst/>
          </a:prstGeom>
        </p:spPr>
      </p:pic>
      <p:sp>
        <p:nvSpPr>
          <p:cNvPr id="13" name="Rectangle 12">
            <a:extLst>
              <a:ext uri="{FF2B5EF4-FFF2-40B4-BE49-F238E27FC236}">
                <a16:creationId xmlns:a16="http://schemas.microsoft.com/office/drawing/2014/main" id="{C0B6FF00-EBD4-42D2-85E2-DCE305D19BF0}"/>
              </a:ext>
            </a:extLst>
          </p:cNvPr>
          <p:cNvSpPr/>
          <p:nvPr/>
        </p:nvSpPr>
        <p:spPr>
          <a:xfrm>
            <a:off x="4668077" y="1166190"/>
            <a:ext cx="1749287" cy="384313"/>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969292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152B66-BBDE-487C-A422-E6B1E8F63BE1}"/>
              </a:ext>
            </a:extLst>
          </p:cNvPr>
          <p:cNvSpPr txBox="1">
            <a:spLocks/>
          </p:cNvSpPr>
          <p:nvPr/>
        </p:nvSpPr>
        <p:spPr bwMode="black">
          <a:xfrm>
            <a:off x="2640495" y="374015"/>
            <a:ext cx="6766741" cy="762058"/>
          </a:xfrm>
          <a:prstGeom prst="rect">
            <a:avLst/>
          </a:prstGeom>
          <a:solidFill>
            <a:srgbClr val="FFFFFF"/>
          </a:solidFill>
          <a:ln w="31750" cap="sq">
            <a:solidFill>
              <a:srgbClr val="404040"/>
            </a:solidFill>
            <a:miter lim="800000"/>
          </a:ln>
        </p:spPr>
        <p:txBody>
          <a:bodyPr vert="horz" lIns="182880" tIns="182880" rIns="182880" bIns="182880" rtlCol="0" anchor="ctr">
            <a:normAutofit fontScale="82500" lnSpcReduction="1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b="1" dirty="0"/>
              <a:t>Student registration record</a:t>
            </a:r>
            <a:endParaRPr lang="en-IN" b="1" dirty="0"/>
          </a:p>
        </p:txBody>
      </p:sp>
      <p:pic>
        <p:nvPicPr>
          <p:cNvPr id="5" name="Picture 4">
            <a:extLst>
              <a:ext uri="{FF2B5EF4-FFF2-40B4-BE49-F238E27FC236}">
                <a16:creationId xmlns:a16="http://schemas.microsoft.com/office/drawing/2014/main" id="{53D9CC2A-99F9-4AC9-A63C-568456432CB2}"/>
              </a:ext>
            </a:extLst>
          </p:cNvPr>
          <p:cNvPicPr>
            <a:picLocks noChangeAspect="1"/>
          </p:cNvPicPr>
          <p:nvPr/>
        </p:nvPicPr>
        <p:blipFill>
          <a:blip r:embed="rId2"/>
          <a:stretch>
            <a:fillRect/>
          </a:stretch>
        </p:blipFill>
        <p:spPr>
          <a:xfrm>
            <a:off x="596346" y="1651325"/>
            <a:ext cx="11639677" cy="3914588"/>
          </a:xfrm>
          <a:prstGeom prst="rect">
            <a:avLst/>
          </a:prstGeom>
        </p:spPr>
      </p:pic>
    </p:spTree>
    <p:extLst>
      <p:ext uri="{BB962C8B-B14F-4D97-AF65-F5344CB8AC3E}">
        <p14:creationId xmlns:p14="http://schemas.microsoft.com/office/powerpoint/2010/main" val="1931568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06D7-E105-4BFD-B51F-25A2B4019D23}"/>
              </a:ext>
            </a:extLst>
          </p:cNvPr>
          <p:cNvSpPr>
            <a:spLocks noGrp="1"/>
          </p:cNvSpPr>
          <p:nvPr>
            <p:ph type="title"/>
          </p:nvPr>
        </p:nvSpPr>
        <p:spPr>
          <a:xfrm>
            <a:off x="2023672" y="2188564"/>
            <a:ext cx="8162044" cy="1418894"/>
          </a:xfrm>
        </p:spPr>
        <p:txBody>
          <a:bodyPr>
            <a:normAutofit/>
          </a:bodyPr>
          <a:lstStyle/>
          <a:p>
            <a:r>
              <a:rPr lang="en-US" sz="6600" b="1" u="sng" dirty="0"/>
              <a:t>THANK YOU</a:t>
            </a:r>
            <a:endParaRPr lang="en-IN" sz="6600" b="1" u="sng" dirty="0"/>
          </a:p>
        </p:txBody>
      </p:sp>
    </p:spTree>
    <p:extLst>
      <p:ext uri="{BB962C8B-B14F-4D97-AF65-F5344CB8AC3E}">
        <p14:creationId xmlns:p14="http://schemas.microsoft.com/office/powerpoint/2010/main" val="189599056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1866</TotalTime>
  <Words>1972</Words>
  <Application>Microsoft Office PowerPoint</Application>
  <PresentationFormat>Widescreen</PresentationFormat>
  <Paragraphs>167</Paragraphs>
  <Slides>43</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Agency FB</vt:lpstr>
      <vt:lpstr>-apple-system</vt:lpstr>
      <vt:lpstr>Arial</vt:lpstr>
      <vt:lpstr>Arial</vt:lpstr>
      <vt:lpstr>Arial Black</vt:lpstr>
      <vt:lpstr>Calibri</vt:lpstr>
      <vt:lpstr>ff1</vt:lpstr>
      <vt:lpstr>ff4</vt:lpstr>
      <vt:lpstr>Gill Sans MT</vt:lpstr>
      <vt:lpstr>Times New Roman</vt:lpstr>
      <vt:lpstr>urw-din</vt:lpstr>
      <vt:lpstr>Parcel</vt:lpstr>
      <vt:lpstr>Face Recognition Attendance System </vt:lpstr>
      <vt:lpstr>MADE BY:-</vt:lpstr>
      <vt:lpstr>REQUIREMENT ANALYSIS DOCUMENT:-</vt:lpstr>
      <vt:lpstr>1. INTRODUCTION:</vt:lpstr>
      <vt:lpstr>1.1.PURPOSE of the System</vt:lpstr>
      <vt:lpstr>1.2.SCOPE of the System </vt:lpstr>
      <vt:lpstr>1.3.OBJECTIVE AND SUCCESS CRITERIA OF THE SYSTEM</vt:lpstr>
      <vt:lpstr>1.4.REFERENCES:</vt:lpstr>
      <vt:lpstr>PowerPoint Presentation</vt:lpstr>
      <vt:lpstr>PowerPoint Presentation</vt:lpstr>
      <vt:lpstr>2.CURRENT SYSTEM:</vt:lpstr>
      <vt:lpstr>3.PROPOSED SYSTEM:</vt:lpstr>
      <vt:lpstr>3.1.OVERVIEW:</vt:lpstr>
      <vt:lpstr>3.2.Functional Requirements:</vt:lpstr>
      <vt:lpstr>3.3.Non-functional requirements:</vt:lpstr>
      <vt:lpstr>3.4.SYSTEM MODEL:</vt:lpstr>
      <vt:lpstr>Use case diagram :</vt:lpstr>
      <vt:lpstr>Class diagram</vt:lpstr>
      <vt:lpstr>System Design Document </vt:lpstr>
      <vt:lpstr> 1. Introduction  </vt:lpstr>
      <vt:lpstr>1.1.Purpose of the system</vt:lpstr>
      <vt:lpstr>1.2.Design Goals</vt:lpstr>
      <vt:lpstr>  1.3.References</vt:lpstr>
      <vt:lpstr>PowerPoint Presentation</vt:lpstr>
      <vt:lpstr>PowerPoint Presentation</vt:lpstr>
      <vt:lpstr>1.4.Overview</vt:lpstr>
      <vt:lpstr>2.Current System Architecture </vt:lpstr>
      <vt:lpstr>Teacher taking attendance in a class room</vt:lpstr>
      <vt:lpstr>3.Proposed Software Architecture </vt:lpstr>
      <vt:lpstr>3.1.Overview</vt:lpstr>
      <vt:lpstr>Working of Face Recognition attendance system</vt:lpstr>
      <vt:lpstr>Face Detection and Recognition Flow Diagram</vt:lpstr>
      <vt:lpstr>3.2.Persistent data mapping </vt:lpstr>
      <vt:lpstr>3.3.Access control and Security </vt:lpstr>
      <vt:lpstr>Sample screens:</vt:lpstr>
      <vt:lpstr>GUI OF THE SYSTEM(PROJECT)</vt:lpstr>
      <vt:lpstr>Registration of new student</vt:lpstr>
      <vt:lpstr>Training images</vt:lpstr>
      <vt:lpstr>Taking attendance</vt:lpstr>
      <vt:lpstr>For students confirmation whether the attendance marked successfully</vt:lpstr>
      <vt:lpstr>Attendance record (date wise separate)</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Recognition Attendance System</dc:title>
  <dc:creator>BALA</dc:creator>
  <cp:lastModifiedBy>BALA</cp:lastModifiedBy>
  <cp:revision>60</cp:revision>
  <dcterms:created xsi:type="dcterms:W3CDTF">2022-02-15T16:29:51Z</dcterms:created>
  <dcterms:modified xsi:type="dcterms:W3CDTF">2022-03-16T10:40:52Z</dcterms:modified>
</cp:coreProperties>
</file>