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sldIdLst>
    <p:sldId id="256" r:id="rId2"/>
    <p:sldId id="257" r:id="rId3"/>
    <p:sldId id="258" r:id="rId4"/>
    <p:sldId id="271" r:id="rId5"/>
    <p:sldId id="259" r:id="rId6"/>
    <p:sldId id="272" r:id="rId7"/>
    <p:sldId id="260" r:id="rId8"/>
    <p:sldId id="261" r:id="rId9"/>
    <p:sldId id="263" r:id="rId10"/>
    <p:sldId id="264" r:id="rId11"/>
    <p:sldId id="262" r:id="rId12"/>
    <p:sldId id="265" r:id="rId13"/>
    <p:sldId id="266" r:id="rId14"/>
    <p:sldId id="267" r:id="rId15"/>
    <p:sldId id="268" r:id="rId16"/>
    <p:sldId id="269" r:id="rId17"/>
    <p:sldId id="282" r:id="rId18"/>
    <p:sldId id="287" r:id="rId19"/>
    <p:sldId id="276" r:id="rId20"/>
    <p:sldId id="275" r:id="rId21"/>
    <p:sldId id="270" r:id="rId22"/>
    <p:sldId id="284" r:id="rId23"/>
    <p:sldId id="286" r:id="rId24"/>
    <p:sldId id="285" r:id="rId25"/>
    <p:sldId id="274" r:id="rId26"/>
    <p:sldId id="277" r:id="rId27"/>
    <p:sldId id="288" r:id="rId28"/>
    <p:sldId id="278" r:id="rId29"/>
    <p:sldId id="279" r:id="rId30"/>
    <p:sldId id="280"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DEED299-7CA3-4725-BFAD-C57E9F40C51C}" type="datetimeFigureOut">
              <a:rPr lang="en-IN" smtClean="0"/>
              <a:t>19-02-2022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14913943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EED299-7CA3-4725-BFAD-C57E9F40C51C}" type="datetimeFigureOut">
              <a:rPr lang="en-IN" smtClean="0"/>
              <a:t>19-02-2022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639345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DEED299-7CA3-4725-BFAD-C57E9F40C51C}" type="datetimeFigureOut">
              <a:rPr lang="en-IN" smtClean="0"/>
              <a:t>19-02-2022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7237256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DEED299-7CA3-4725-BFAD-C57E9F40C51C}" type="datetimeFigureOut">
              <a:rPr lang="en-IN" smtClean="0"/>
              <a:t>19-02-2022</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50505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DEED299-7CA3-4725-BFAD-C57E9F40C51C}" type="datetimeFigureOut">
              <a:rPr lang="en-IN" smtClean="0"/>
              <a:t>19-02-2022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39335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EED299-7CA3-4725-BFAD-C57E9F40C51C}" type="datetimeFigureOut">
              <a:rPr lang="en-IN" smtClean="0"/>
              <a:t>19-02-2022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010713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EED299-7CA3-4725-BFAD-C57E9F40C51C}" type="datetimeFigureOut">
              <a:rPr lang="en-IN" smtClean="0"/>
              <a:t>19-02-2022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516002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DEED299-7CA3-4725-BFAD-C57E9F40C51C}" type="datetimeFigureOut">
              <a:rPr lang="en-IN" smtClean="0"/>
              <a:t>19-02-2022</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4190510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DEED299-7CA3-4725-BFAD-C57E9F40C51C}" type="datetimeFigureOut">
              <a:rPr lang="en-IN" smtClean="0"/>
              <a:t>19-02-2022</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79343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ED299-7CA3-4725-BFAD-C57E9F40C51C}" type="datetimeFigureOut">
              <a:rPr lang="en-IN" smtClean="0"/>
              <a:t>19-02-2022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320427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ED299-7CA3-4725-BFAD-C57E9F40C51C}" type="datetimeFigureOut">
              <a:rPr lang="en-IN" smtClean="0"/>
              <a:t>19-02-2022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886665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DEED299-7CA3-4725-BFAD-C57E9F40C51C}" type="datetimeFigureOut">
              <a:rPr lang="en-IN" smtClean="0"/>
              <a:t>19-02-2022</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635FF2F-9C59-4E70-9B76-91D3D062ACC9}" type="slidenum">
              <a:rPr lang="en-IN" smtClean="0"/>
              <a:t>‹#›</a:t>
            </a:fld>
            <a:endParaRPr lang="en-IN"/>
          </a:p>
        </p:txBody>
      </p:sp>
    </p:spTree>
    <p:extLst>
      <p:ext uri="{BB962C8B-B14F-4D97-AF65-F5344CB8AC3E}">
        <p14:creationId xmlns:p14="http://schemas.microsoft.com/office/powerpoint/2010/main" val="1020576361"/>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FDAA5-7760-4748-B824-EE6BA5B2E637}"/>
              </a:ext>
            </a:extLst>
          </p:cNvPr>
          <p:cNvSpPr>
            <a:spLocks noGrp="1"/>
          </p:cNvSpPr>
          <p:nvPr>
            <p:ph type="ctrTitle"/>
          </p:nvPr>
        </p:nvSpPr>
        <p:spPr>
          <a:xfrm>
            <a:off x="426722" y="351692"/>
            <a:ext cx="5059678" cy="5767754"/>
          </a:xfrm>
        </p:spPr>
        <p:txBody>
          <a:bodyPr>
            <a:noAutofit/>
          </a:bodyPr>
          <a:lstStyle/>
          <a:p>
            <a:pPr algn="l"/>
            <a:r>
              <a:rPr lang="en-US" sz="6600" b="1" u="sng" dirty="0">
                <a:latin typeface="Agency FB" panose="020B0503020202020204" pitchFamily="34" charset="0"/>
              </a:rPr>
              <a:t>Face Recognition Attendance System</a:t>
            </a:r>
            <a:br>
              <a:rPr lang="en-US" sz="1800" dirty="0"/>
            </a:br>
            <a:endParaRPr lang="en-IN" sz="1800" dirty="0"/>
          </a:p>
        </p:txBody>
      </p:sp>
      <p:pic>
        <p:nvPicPr>
          <p:cNvPr id="1030" name="Picture 6" descr="Facial Recognition Attendance System | VersionX">
            <a:extLst>
              <a:ext uri="{FF2B5EF4-FFF2-40B4-BE49-F238E27FC236}">
                <a16:creationId xmlns:a16="http://schemas.microsoft.com/office/drawing/2014/main" id="{6F44116D-D143-4481-BAC3-E9AC38219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442" y="1677683"/>
            <a:ext cx="5869837" cy="328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57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232F-E634-4A58-AB9C-8FAA28B0A75D}"/>
              </a:ext>
            </a:extLst>
          </p:cNvPr>
          <p:cNvSpPr>
            <a:spLocks noGrp="1"/>
          </p:cNvSpPr>
          <p:nvPr>
            <p:ph type="title"/>
          </p:nvPr>
        </p:nvSpPr>
        <p:spPr>
          <a:xfrm>
            <a:off x="1617785" y="393895"/>
            <a:ext cx="8343079" cy="1759517"/>
          </a:xfrm>
        </p:spPr>
        <p:txBody>
          <a:bodyPr>
            <a:normAutofit/>
          </a:bodyPr>
          <a:lstStyle/>
          <a:p>
            <a:r>
              <a:rPr lang="en-US" sz="5400" b="1" u="sng" dirty="0">
                <a:latin typeface="+mn-lt"/>
              </a:rPr>
              <a:t>MADE BY:-</a:t>
            </a:r>
            <a:endParaRPr lang="en-IN" sz="5400" b="1" u="sng" dirty="0">
              <a:latin typeface="+mn-lt"/>
            </a:endParaRPr>
          </a:p>
        </p:txBody>
      </p:sp>
      <p:sp>
        <p:nvSpPr>
          <p:cNvPr id="3" name="Content Placeholder 2">
            <a:extLst>
              <a:ext uri="{FF2B5EF4-FFF2-40B4-BE49-F238E27FC236}">
                <a16:creationId xmlns:a16="http://schemas.microsoft.com/office/drawing/2014/main" id="{B2A2B023-A60E-4DC7-A1A9-1578C6EF2DC4}"/>
              </a:ext>
            </a:extLst>
          </p:cNvPr>
          <p:cNvSpPr>
            <a:spLocks noGrp="1"/>
          </p:cNvSpPr>
          <p:nvPr>
            <p:ph idx="1"/>
          </p:nvPr>
        </p:nvSpPr>
        <p:spPr>
          <a:xfrm>
            <a:off x="838200" y="2697822"/>
            <a:ext cx="9853246" cy="4293821"/>
          </a:xfrm>
        </p:spPr>
        <p:txBody>
          <a:bodyPr>
            <a:normAutofit/>
          </a:bodyPr>
          <a:lstStyle/>
          <a:p>
            <a:pPr marL="0" indent="0">
              <a:buNone/>
            </a:pPr>
            <a:r>
              <a:rPr lang="en-US" sz="4000" b="1" u="sng" dirty="0"/>
              <a:t>NAME:- </a:t>
            </a:r>
            <a:r>
              <a:rPr lang="en-US" sz="4000" dirty="0"/>
              <a:t>BALA KRISHNA CHENNAIAH</a:t>
            </a:r>
          </a:p>
          <a:p>
            <a:pPr marL="0" indent="0">
              <a:buNone/>
            </a:pPr>
            <a:r>
              <a:rPr lang="en-US" sz="4000" b="1" u="sng" dirty="0"/>
              <a:t>REGD NO. </a:t>
            </a:r>
            <a:r>
              <a:rPr lang="en-US" sz="4000" dirty="0"/>
              <a:t>:- 121912501006	</a:t>
            </a:r>
          </a:p>
          <a:p>
            <a:pPr marL="0" indent="0">
              <a:buNone/>
            </a:pPr>
            <a:r>
              <a:rPr lang="en-US" sz="4000" b="1" u="sng" dirty="0"/>
              <a:t>CLASS:- </a:t>
            </a:r>
            <a:r>
              <a:rPr lang="en-US" sz="4000" dirty="0"/>
              <a:t>BCA-3/3 – ‘A’</a:t>
            </a:r>
          </a:p>
          <a:p>
            <a:pPr marL="0" indent="0">
              <a:buNone/>
            </a:pPr>
            <a:r>
              <a:rPr lang="en-US" sz="4000" b="1" u="sng" dirty="0"/>
              <a:t>GUIDE NAME:-  </a:t>
            </a:r>
            <a:r>
              <a:rPr lang="en-US" sz="4000" dirty="0"/>
              <a:t>MRS. B SATYA SAI VANI </a:t>
            </a:r>
            <a:endParaRPr lang="en-IN" sz="4000" dirty="0"/>
          </a:p>
        </p:txBody>
      </p:sp>
    </p:spTree>
    <p:extLst>
      <p:ext uri="{BB962C8B-B14F-4D97-AF65-F5344CB8AC3E}">
        <p14:creationId xmlns:p14="http://schemas.microsoft.com/office/powerpoint/2010/main" val="242758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F162-E8E1-4DE6-AD14-CBE81A7473A1}"/>
              </a:ext>
            </a:extLst>
          </p:cNvPr>
          <p:cNvSpPr>
            <a:spLocks noGrp="1"/>
          </p:cNvSpPr>
          <p:nvPr>
            <p:ph type="title"/>
          </p:nvPr>
        </p:nvSpPr>
        <p:spPr>
          <a:xfrm>
            <a:off x="838200" y="266651"/>
            <a:ext cx="10515600" cy="1325563"/>
          </a:xfrm>
        </p:spPr>
        <p:txBody>
          <a:bodyPr>
            <a:normAutofit/>
          </a:bodyPr>
          <a:lstStyle/>
          <a:p>
            <a:r>
              <a:rPr lang="en-US" sz="4000" b="1" u="sng" dirty="0"/>
              <a:t>ABSTRACT:-</a:t>
            </a:r>
            <a:endParaRPr lang="en-IN" sz="4000" b="1" u="sng" dirty="0"/>
          </a:p>
        </p:txBody>
      </p:sp>
      <p:sp>
        <p:nvSpPr>
          <p:cNvPr id="7" name="Content Placeholder 6">
            <a:extLst>
              <a:ext uri="{FF2B5EF4-FFF2-40B4-BE49-F238E27FC236}">
                <a16:creationId xmlns:a16="http://schemas.microsoft.com/office/drawing/2014/main" id="{C5E564FA-6E45-400A-B148-5A832B064672}"/>
              </a:ext>
            </a:extLst>
          </p:cNvPr>
          <p:cNvSpPr>
            <a:spLocks noGrp="1"/>
          </p:cNvSpPr>
          <p:nvPr>
            <p:ph idx="1"/>
          </p:nvPr>
        </p:nvSpPr>
        <p:spPr>
          <a:xfrm>
            <a:off x="838200" y="1910031"/>
            <a:ext cx="10515600" cy="4351338"/>
          </a:xfrm>
        </p:spPr>
        <p:txBody>
          <a:bodyPr>
            <a:normAutofit/>
          </a:bodyPr>
          <a:lstStyle/>
          <a:p>
            <a:r>
              <a:rPr lang="en-US" sz="3600" dirty="0"/>
              <a:t>The main purpose of this project is to build a face recognition-based attendance monitoring system for educational institution to enhance and upgrade the current attendance system into more efficient and effective as compared to before.</a:t>
            </a:r>
          </a:p>
          <a:p>
            <a:r>
              <a:rPr lang="en-US" sz="3600" dirty="0"/>
              <a:t> The current old system has a lot of ambiguity that caused inaccurate and inefficient of attendance taking. </a:t>
            </a:r>
          </a:p>
        </p:txBody>
      </p:sp>
    </p:spTree>
    <p:extLst>
      <p:ext uri="{BB962C8B-B14F-4D97-AF65-F5344CB8AC3E}">
        <p14:creationId xmlns:p14="http://schemas.microsoft.com/office/powerpoint/2010/main" val="544972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F94CE1-8955-4EB1-B55E-2528F2684ACD}"/>
              </a:ext>
            </a:extLst>
          </p:cNvPr>
          <p:cNvSpPr>
            <a:spLocks noGrp="1"/>
          </p:cNvSpPr>
          <p:nvPr>
            <p:ph idx="1"/>
          </p:nvPr>
        </p:nvSpPr>
        <p:spPr>
          <a:xfrm>
            <a:off x="686386" y="1496963"/>
            <a:ext cx="11100582" cy="5361037"/>
          </a:xfrm>
        </p:spPr>
        <p:txBody>
          <a:bodyPr/>
          <a:lstStyle/>
          <a:p>
            <a:r>
              <a:rPr lang="en-US" sz="3600" dirty="0"/>
              <a:t>Many problems arise when the authority is unable to enforce the regulation that exist in the old system. </a:t>
            </a:r>
          </a:p>
          <a:p>
            <a:r>
              <a:rPr lang="en-US" sz="3600" dirty="0"/>
              <a:t>The technology working behind will be the face recognition system. The human face is one of the natural traits that can uniquely identify an individual. </a:t>
            </a:r>
          </a:p>
          <a:p>
            <a:endParaRPr lang="en-IN" dirty="0"/>
          </a:p>
        </p:txBody>
      </p:sp>
    </p:spTree>
    <p:extLst>
      <p:ext uri="{BB962C8B-B14F-4D97-AF65-F5344CB8AC3E}">
        <p14:creationId xmlns:p14="http://schemas.microsoft.com/office/powerpoint/2010/main" val="123480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E7915-9942-4E0B-AAD0-09FAF7F87DB2}"/>
              </a:ext>
            </a:extLst>
          </p:cNvPr>
          <p:cNvSpPr>
            <a:spLocks noGrp="1"/>
          </p:cNvSpPr>
          <p:nvPr>
            <p:ph idx="1"/>
          </p:nvPr>
        </p:nvSpPr>
        <p:spPr>
          <a:xfrm>
            <a:off x="613117" y="1361391"/>
            <a:ext cx="10515600" cy="4351338"/>
          </a:xfrm>
        </p:spPr>
        <p:txBody>
          <a:bodyPr>
            <a:normAutofit/>
          </a:bodyPr>
          <a:lstStyle/>
          <a:p>
            <a:r>
              <a:rPr lang="en-US" sz="3600" dirty="0"/>
              <a:t>Therefore, it is used to trace identity as the possibilities for a face to deviate or being duplicated is low. In this project, face databases will be created to pump data into the recognizer algorithm.</a:t>
            </a:r>
          </a:p>
          <a:p>
            <a:r>
              <a:rPr lang="en-US" sz="3600" dirty="0"/>
              <a:t> Then, during the attendance taking session, faces will be compared against the database to seek for identity. </a:t>
            </a:r>
          </a:p>
          <a:p>
            <a:endParaRPr lang="en-IN" dirty="0"/>
          </a:p>
        </p:txBody>
      </p:sp>
    </p:spTree>
    <p:extLst>
      <p:ext uri="{BB962C8B-B14F-4D97-AF65-F5344CB8AC3E}">
        <p14:creationId xmlns:p14="http://schemas.microsoft.com/office/powerpoint/2010/main" val="3723020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78BC90-134D-49C6-B178-EFA3682884DF}"/>
              </a:ext>
            </a:extLst>
          </p:cNvPr>
          <p:cNvSpPr>
            <a:spLocks noGrp="1"/>
          </p:cNvSpPr>
          <p:nvPr>
            <p:ph idx="1"/>
          </p:nvPr>
        </p:nvSpPr>
        <p:spPr>
          <a:xfrm>
            <a:off x="838200" y="1417662"/>
            <a:ext cx="10515600" cy="4351338"/>
          </a:xfrm>
        </p:spPr>
        <p:txBody>
          <a:bodyPr/>
          <a:lstStyle/>
          <a:p>
            <a:r>
              <a:rPr lang="en-US" sz="3600" dirty="0"/>
              <a:t>When an individual is identified, its attendance will be taken down automatically saving necessary information into a excel sheet.</a:t>
            </a:r>
          </a:p>
          <a:p>
            <a:r>
              <a:rPr lang="en-US" sz="3600" dirty="0"/>
              <a:t> At the end of the day, the excel sheet containing attendance information regarding all individuals are mailed to the respective faculty.</a:t>
            </a:r>
            <a:endParaRPr lang="en-IN" sz="3600" dirty="0"/>
          </a:p>
          <a:p>
            <a:endParaRPr lang="en-IN" dirty="0"/>
          </a:p>
        </p:txBody>
      </p:sp>
    </p:spTree>
    <p:extLst>
      <p:ext uri="{BB962C8B-B14F-4D97-AF65-F5344CB8AC3E}">
        <p14:creationId xmlns:p14="http://schemas.microsoft.com/office/powerpoint/2010/main" val="3360346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44065-1AAA-4505-820D-477BEC317691}"/>
              </a:ext>
            </a:extLst>
          </p:cNvPr>
          <p:cNvSpPr>
            <a:spLocks noGrp="1"/>
          </p:cNvSpPr>
          <p:nvPr>
            <p:ph type="title"/>
          </p:nvPr>
        </p:nvSpPr>
        <p:spPr/>
        <p:txBody>
          <a:bodyPr>
            <a:normAutofit/>
          </a:bodyPr>
          <a:lstStyle/>
          <a:p>
            <a:r>
              <a:rPr lang="en-IN" sz="3600" b="1" u="sng" dirty="0"/>
              <a:t>Software Requirements:</a:t>
            </a:r>
          </a:p>
        </p:txBody>
      </p:sp>
      <p:sp>
        <p:nvSpPr>
          <p:cNvPr id="3" name="Content Placeholder 2">
            <a:extLst>
              <a:ext uri="{FF2B5EF4-FFF2-40B4-BE49-F238E27FC236}">
                <a16:creationId xmlns:a16="http://schemas.microsoft.com/office/drawing/2014/main" id="{29BD0279-D699-484D-B35C-FF8CE2C85F9A}"/>
              </a:ext>
            </a:extLst>
          </p:cNvPr>
          <p:cNvSpPr>
            <a:spLocks noGrp="1"/>
          </p:cNvSpPr>
          <p:nvPr>
            <p:ph idx="1"/>
          </p:nvPr>
        </p:nvSpPr>
        <p:spPr/>
        <p:txBody>
          <a:bodyPr>
            <a:normAutofit/>
          </a:bodyPr>
          <a:lstStyle/>
          <a:p>
            <a:r>
              <a:rPr lang="en-IN" sz="2800" b="1" dirty="0"/>
              <a:t>Windows 10  </a:t>
            </a:r>
          </a:p>
          <a:p>
            <a:r>
              <a:rPr lang="en-IN" sz="2800" b="1" dirty="0"/>
              <a:t>Anaconda</a:t>
            </a:r>
          </a:p>
          <a:p>
            <a:r>
              <a:rPr lang="en-IN" sz="2800" b="1" dirty="0"/>
              <a:t>CSV file reader(MS Excel) </a:t>
            </a:r>
          </a:p>
          <a:p>
            <a:r>
              <a:rPr lang="en-IN" sz="2800" b="1" dirty="0"/>
              <a:t>Some Python Libraries</a:t>
            </a:r>
          </a:p>
          <a:p>
            <a:r>
              <a:rPr lang="en-IN" sz="2800" b="1" dirty="0"/>
              <a:t> Camera (Web Cam)</a:t>
            </a:r>
          </a:p>
        </p:txBody>
      </p:sp>
    </p:spTree>
    <p:extLst>
      <p:ext uri="{BB962C8B-B14F-4D97-AF65-F5344CB8AC3E}">
        <p14:creationId xmlns:p14="http://schemas.microsoft.com/office/powerpoint/2010/main" val="231875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8A2DD-2485-4EE8-9685-DC71BFF9AD58}"/>
              </a:ext>
            </a:extLst>
          </p:cNvPr>
          <p:cNvSpPr>
            <a:spLocks noGrp="1"/>
          </p:cNvSpPr>
          <p:nvPr>
            <p:ph type="title"/>
          </p:nvPr>
        </p:nvSpPr>
        <p:spPr/>
        <p:txBody>
          <a:bodyPr/>
          <a:lstStyle/>
          <a:p>
            <a:r>
              <a:rPr lang="en-US" b="1" u="sng" dirty="0"/>
              <a:t>LIST OF PYTHON LIBRARIES REQUIRED:</a:t>
            </a:r>
            <a:endParaRPr lang="en-IN" b="1" u="sng" dirty="0"/>
          </a:p>
        </p:txBody>
      </p:sp>
      <p:sp>
        <p:nvSpPr>
          <p:cNvPr id="3" name="Content Placeholder 2">
            <a:extLst>
              <a:ext uri="{FF2B5EF4-FFF2-40B4-BE49-F238E27FC236}">
                <a16:creationId xmlns:a16="http://schemas.microsoft.com/office/drawing/2014/main" id="{2C43F376-B7A1-4337-9B44-663D3A9978DA}"/>
              </a:ext>
            </a:extLst>
          </p:cNvPr>
          <p:cNvSpPr>
            <a:spLocks noGrp="1"/>
          </p:cNvSpPr>
          <p:nvPr>
            <p:ph idx="1"/>
          </p:nvPr>
        </p:nvSpPr>
        <p:spPr/>
        <p:txBody>
          <a:bodyPr>
            <a:normAutofit fontScale="92500" lnSpcReduction="10000"/>
          </a:bodyPr>
          <a:lstStyle/>
          <a:p>
            <a:pPr marL="0" indent="0">
              <a:buNone/>
            </a:pPr>
            <a:r>
              <a:rPr lang="en-IN" sz="5400" b="1" u="sng" dirty="0" err="1"/>
              <a:t>Dlib</a:t>
            </a:r>
            <a:endParaRPr lang="en-IN" sz="4400" b="1" u="sng" dirty="0"/>
          </a:p>
          <a:p>
            <a:pPr marL="0" indent="0">
              <a:buNone/>
            </a:pPr>
            <a:endParaRPr lang="en-IN" dirty="0"/>
          </a:p>
          <a:p>
            <a:pPr marL="0" indent="0">
              <a:buNone/>
            </a:pPr>
            <a:r>
              <a:rPr lang="en-US" sz="3200" dirty="0" err="1"/>
              <a:t>dlib</a:t>
            </a:r>
            <a:r>
              <a:rPr lang="en-US" sz="3200" dirty="0"/>
              <a:t> is a toolkit for making real world machine learning and data analysis applications in C++. While the library is originally written in C++, it has good, easy to use Python bindings.</a:t>
            </a:r>
            <a:endParaRPr lang="en-IN" sz="3200" dirty="0"/>
          </a:p>
        </p:txBody>
      </p:sp>
      <p:pic>
        <p:nvPicPr>
          <p:cNvPr id="4098" name="Picture 2" descr="Dlib - Wikipedia">
            <a:extLst>
              <a:ext uri="{FF2B5EF4-FFF2-40B4-BE49-F238E27FC236}">
                <a16:creationId xmlns:a16="http://schemas.microsoft.com/office/drawing/2014/main" id="{123724A4-93B1-410B-8365-F40E443AC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0420" y="5054931"/>
            <a:ext cx="2349817" cy="1676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571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FE01-69C6-41F5-9AA1-8504D09A22D3}"/>
              </a:ext>
            </a:extLst>
          </p:cNvPr>
          <p:cNvSpPr>
            <a:spLocks noGrp="1"/>
          </p:cNvSpPr>
          <p:nvPr>
            <p:ph type="title"/>
          </p:nvPr>
        </p:nvSpPr>
        <p:spPr>
          <a:xfrm>
            <a:off x="2210033" y="556729"/>
            <a:ext cx="7729728" cy="1188720"/>
          </a:xfrm>
        </p:spPr>
        <p:txBody>
          <a:bodyPr>
            <a:normAutofit fontScale="90000"/>
          </a:bodyPr>
          <a:lstStyle/>
          <a:p>
            <a:br>
              <a:rPr lang="en-IN" sz="5300" b="1" u="sng" dirty="0"/>
            </a:br>
            <a:r>
              <a:rPr lang="en-IN" sz="5300" b="1" u="sng" dirty="0" err="1"/>
              <a:t>face_recognition</a:t>
            </a:r>
            <a:br>
              <a:rPr lang="en-IN" sz="2800" b="1" u="sng" dirty="0"/>
            </a:br>
            <a:br>
              <a:rPr lang="en-IN" dirty="0"/>
            </a:br>
            <a:endParaRPr lang="en-IN" dirty="0"/>
          </a:p>
        </p:txBody>
      </p:sp>
      <p:sp>
        <p:nvSpPr>
          <p:cNvPr id="3" name="Content Placeholder 2">
            <a:extLst>
              <a:ext uri="{FF2B5EF4-FFF2-40B4-BE49-F238E27FC236}">
                <a16:creationId xmlns:a16="http://schemas.microsoft.com/office/drawing/2014/main" id="{150DCFCB-F12E-422C-9433-21FAACE551E5}"/>
              </a:ext>
            </a:extLst>
          </p:cNvPr>
          <p:cNvSpPr>
            <a:spLocks noGrp="1"/>
          </p:cNvSpPr>
          <p:nvPr>
            <p:ph idx="1"/>
          </p:nvPr>
        </p:nvSpPr>
        <p:spPr>
          <a:xfrm>
            <a:off x="647113" y="2229998"/>
            <a:ext cx="10855569" cy="4628002"/>
          </a:xfrm>
        </p:spPr>
        <p:txBody>
          <a:bodyPr>
            <a:normAutofit/>
          </a:bodyPr>
          <a:lstStyle/>
          <a:p>
            <a:pPr marL="0" indent="0">
              <a:buNone/>
            </a:pPr>
            <a:r>
              <a:rPr lang="en-US" sz="3200" dirty="0"/>
              <a:t>Recognize and manipulate faces from Python or from the command line with. the world's simplest face recognition library. Built using </a:t>
            </a:r>
            <a:r>
              <a:rPr lang="en-US" sz="3200" dirty="0" err="1"/>
              <a:t>dlib's</a:t>
            </a:r>
            <a:r>
              <a:rPr lang="en-US" sz="3200" dirty="0"/>
              <a:t> state-of-the-art face recognition. built with deep learning.</a:t>
            </a:r>
            <a:endParaRPr lang="en-IN" sz="3200" dirty="0"/>
          </a:p>
        </p:txBody>
      </p:sp>
      <p:pic>
        <p:nvPicPr>
          <p:cNvPr id="3074" name="Picture 2" descr="Face Recognition using Python and OpenCV">
            <a:extLst>
              <a:ext uri="{FF2B5EF4-FFF2-40B4-BE49-F238E27FC236}">
                <a16:creationId xmlns:a16="http://schemas.microsoft.com/office/drawing/2014/main" id="{ADC5851E-9A5A-4F4E-ACE2-55F7C6905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6725" y="4062358"/>
            <a:ext cx="4663439" cy="2586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747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3AC5A-C772-4726-BBB2-FEF1988D0B26}"/>
              </a:ext>
            </a:extLst>
          </p:cNvPr>
          <p:cNvSpPr>
            <a:spLocks noGrp="1"/>
          </p:cNvSpPr>
          <p:nvPr>
            <p:ph idx="1"/>
          </p:nvPr>
        </p:nvSpPr>
        <p:spPr>
          <a:xfrm>
            <a:off x="533400" y="1897867"/>
            <a:ext cx="10515600" cy="4351338"/>
          </a:xfrm>
        </p:spPr>
        <p:txBody>
          <a:bodyPr>
            <a:normAutofit fontScale="92500"/>
          </a:bodyPr>
          <a:lstStyle/>
          <a:p>
            <a:pPr marL="0" indent="0">
              <a:buNone/>
            </a:pPr>
            <a:r>
              <a:rPr lang="en-IN" sz="5400" b="1" u="sng" dirty="0" err="1"/>
              <a:t>Opencv</a:t>
            </a:r>
            <a:endParaRPr lang="en-IN" sz="5400" b="1" u="sng" dirty="0"/>
          </a:p>
          <a:p>
            <a:pPr marL="0" indent="0">
              <a:buNone/>
            </a:pPr>
            <a:endParaRPr lang="en-IN" sz="5400" b="1" u="sng" dirty="0"/>
          </a:p>
          <a:p>
            <a:pPr marL="0" indent="0">
              <a:buNone/>
            </a:pPr>
            <a:r>
              <a:rPr lang="en-US" sz="3200" b="0" i="0" dirty="0">
                <a:effectLst/>
                <a:latin typeface="arial" panose="020B0604020202020204" pitchFamily="34" charset="0"/>
              </a:rPr>
              <a:t>OpenCV is a great tool for </a:t>
            </a:r>
            <a:r>
              <a:rPr lang="en-US" sz="3200" b="1" i="0" dirty="0">
                <a:effectLst/>
                <a:latin typeface="arial" panose="020B0604020202020204" pitchFamily="34" charset="0"/>
              </a:rPr>
              <a:t>image processing and performing computer vision tasks</a:t>
            </a:r>
            <a:r>
              <a:rPr lang="en-US" sz="3200" b="0" i="0" dirty="0">
                <a:effectLst/>
                <a:latin typeface="arial" panose="020B0604020202020204" pitchFamily="34" charset="0"/>
              </a:rPr>
              <a:t>. It is an open-source library that can be used to perform tasks like face detection, objection tracking, landmark detection, and much more. It supports multiple languages including python, java C++.</a:t>
            </a:r>
            <a:endParaRPr lang="en-IN" sz="4400" b="1" u="sng" dirty="0"/>
          </a:p>
          <a:p>
            <a:pPr marL="0" indent="0">
              <a:buNone/>
            </a:pPr>
            <a:endParaRPr lang="en-IN" sz="5400" dirty="0"/>
          </a:p>
        </p:txBody>
      </p:sp>
      <p:pic>
        <p:nvPicPr>
          <p:cNvPr id="2050" name="Picture 2" descr="OpenCV-Python: Welcome to OpenCV-Python !!!">
            <a:extLst>
              <a:ext uri="{FF2B5EF4-FFF2-40B4-BE49-F238E27FC236}">
                <a16:creationId xmlns:a16="http://schemas.microsoft.com/office/drawing/2014/main" id="{3BBDAD13-A79B-477E-A3B5-B2A55674D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250042"/>
            <a:ext cx="6096000"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111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C494E-21B6-47E1-A4FF-3E88E173D4B0}"/>
              </a:ext>
            </a:extLst>
          </p:cNvPr>
          <p:cNvSpPr>
            <a:spLocks noGrp="1"/>
          </p:cNvSpPr>
          <p:nvPr>
            <p:ph type="title"/>
          </p:nvPr>
        </p:nvSpPr>
        <p:spPr>
          <a:xfrm>
            <a:off x="1907580" y="387916"/>
            <a:ext cx="7729728" cy="1188720"/>
          </a:xfrm>
        </p:spPr>
        <p:txBody>
          <a:bodyPr/>
          <a:lstStyle/>
          <a:p>
            <a:r>
              <a:rPr lang="en-US" b="1" u="sng" dirty="0"/>
              <a:t>SOME OTHER LIBRARIES FOR BETTER FUNCTIONALITY:</a:t>
            </a:r>
            <a:endParaRPr lang="en-IN" b="1" u="sng" dirty="0"/>
          </a:p>
        </p:txBody>
      </p:sp>
      <p:sp>
        <p:nvSpPr>
          <p:cNvPr id="3" name="Content Placeholder 2">
            <a:extLst>
              <a:ext uri="{FF2B5EF4-FFF2-40B4-BE49-F238E27FC236}">
                <a16:creationId xmlns:a16="http://schemas.microsoft.com/office/drawing/2014/main" id="{4C8F87AA-1889-46B0-B03A-33E07BFB1573}"/>
              </a:ext>
            </a:extLst>
          </p:cNvPr>
          <p:cNvSpPr>
            <a:spLocks noGrp="1"/>
          </p:cNvSpPr>
          <p:nvPr>
            <p:ph idx="1"/>
          </p:nvPr>
        </p:nvSpPr>
        <p:spPr>
          <a:xfrm>
            <a:off x="838200" y="1825625"/>
            <a:ext cx="2805332" cy="4351338"/>
          </a:xfrm>
        </p:spPr>
        <p:txBody>
          <a:bodyPr>
            <a:normAutofit lnSpcReduction="10000"/>
          </a:bodyPr>
          <a:lstStyle/>
          <a:p>
            <a:pPr marL="457200" indent="-457200">
              <a:buFont typeface="+mj-lt"/>
              <a:buAutoNum type="arabicPeriod"/>
            </a:pPr>
            <a:r>
              <a:rPr lang="en-IN" sz="2400" dirty="0" err="1"/>
              <a:t>certifi</a:t>
            </a:r>
            <a:endParaRPr lang="en-IN" sz="2400" dirty="0"/>
          </a:p>
          <a:p>
            <a:pPr marL="457200" indent="-457200">
              <a:buFont typeface="+mj-lt"/>
              <a:buAutoNum type="arabicPeriod"/>
            </a:pPr>
            <a:r>
              <a:rPr lang="en-IN" sz="2400" dirty="0" err="1"/>
              <a:t>chardet</a:t>
            </a:r>
            <a:endParaRPr lang="en-IN" sz="2400" dirty="0"/>
          </a:p>
          <a:p>
            <a:pPr marL="457200" indent="-457200">
              <a:buFont typeface="+mj-lt"/>
              <a:buAutoNum type="arabicPeriod"/>
            </a:pPr>
            <a:r>
              <a:rPr lang="en-IN" sz="2400" dirty="0"/>
              <a:t>click</a:t>
            </a:r>
          </a:p>
          <a:p>
            <a:pPr marL="457200" indent="-457200">
              <a:buFont typeface="+mj-lt"/>
              <a:buAutoNum type="arabicPeriod"/>
            </a:pPr>
            <a:r>
              <a:rPr lang="en-IN" sz="2400" dirty="0" err="1"/>
              <a:t>decoratorface</a:t>
            </a:r>
            <a:r>
              <a:rPr lang="en-IN" sz="2400" dirty="0"/>
              <a:t>-recognition</a:t>
            </a:r>
          </a:p>
          <a:p>
            <a:pPr marL="457200" indent="-457200">
              <a:buFont typeface="+mj-lt"/>
              <a:buAutoNum type="arabicPeriod"/>
            </a:pPr>
            <a:r>
              <a:rPr lang="en-IN" sz="2400" dirty="0"/>
              <a:t>face-recognition-models</a:t>
            </a:r>
          </a:p>
          <a:p>
            <a:pPr marL="457200" indent="-457200">
              <a:buFont typeface="+mj-lt"/>
              <a:buAutoNum type="arabicPeriod"/>
            </a:pPr>
            <a:r>
              <a:rPr lang="en-IN" sz="2400" dirty="0" err="1"/>
              <a:t>idna</a:t>
            </a:r>
            <a:endParaRPr lang="en-IN" sz="2400" dirty="0"/>
          </a:p>
          <a:p>
            <a:pPr marL="457200" indent="-457200">
              <a:buFont typeface="+mj-lt"/>
              <a:buAutoNum type="arabicPeriod"/>
            </a:pPr>
            <a:r>
              <a:rPr lang="en-IN" sz="2400" dirty="0" err="1"/>
              <a:t>imageio</a:t>
            </a:r>
            <a:endParaRPr lang="en-IN" sz="2400" dirty="0"/>
          </a:p>
          <a:p>
            <a:pPr marL="457200" indent="-457200">
              <a:buFont typeface="+mj-lt"/>
              <a:buAutoNum type="arabicPeriod"/>
            </a:pPr>
            <a:r>
              <a:rPr lang="en-IN" sz="2400" dirty="0" err="1"/>
              <a:t>imageio-ffmpeg</a:t>
            </a:r>
            <a:endParaRPr lang="en-IN" sz="2400" dirty="0"/>
          </a:p>
          <a:p>
            <a:pPr marL="0" indent="0">
              <a:buNone/>
            </a:pPr>
            <a:endParaRPr lang="en-IN" sz="1000" dirty="0"/>
          </a:p>
        </p:txBody>
      </p:sp>
      <p:sp>
        <p:nvSpPr>
          <p:cNvPr id="4" name="Content Placeholder 2">
            <a:extLst>
              <a:ext uri="{FF2B5EF4-FFF2-40B4-BE49-F238E27FC236}">
                <a16:creationId xmlns:a16="http://schemas.microsoft.com/office/drawing/2014/main" id="{17868F0A-A491-4BD9-864F-64E988B1C180}"/>
              </a:ext>
            </a:extLst>
          </p:cNvPr>
          <p:cNvSpPr txBox="1">
            <a:spLocks/>
          </p:cNvSpPr>
          <p:nvPr/>
        </p:nvSpPr>
        <p:spPr>
          <a:xfrm>
            <a:off x="3919612" y="1825625"/>
            <a:ext cx="2805332"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10"/>
            </a:pPr>
            <a:r>
              <a:rPr lang="en-IN" dirty="0" err="1"/>
              <a:t>moviepy</a:t>
            </a:r>
            <a:endParaRPr lang="en-IN" dirty="0"/>
          </a:p>
          <a:p>
            <a:pPr marL="514350" indent="-514350">
              <a:buFont typeface="+mj-lt"/>
              <a:buAutoNum type="arabicPeriod" startAt="10"/>
            </a:pPr>
            <a:r>
              <a:rPr lang="en-IN" dirty="0" err="1"/>
              <a:t>numpy</a:t>
            </a:r>
            <a:endParaRPr lang="en-IN" dirty="0"/>
          </a:p>
          <a:p>
            <a:pPr marL="514350" indent="-514350">
              <a:buFont typeface="+mj-lt"/>
              <a:buAutoNum type="arabicPeriod" startAt="10"/>
            </a:pPr>
            <a:r>
              <a:rPr lang="en-IN" dirty="0" err="1"/>
              <a:t>opencv</a:t>
            </a:r>
            <a:r>
              <a:rPr lang="en-IN" dirty="0"/>
              <a:t>-python</a:t>
            </a:r>
          </a:p>
          <a:p>
            <a:pPr marL="514350" indent="-514350">
              <a:buFont typeface="+mj-lt"/>
              <a:buAutoNum type="arabicPeriod" startAt="10"/>
            </a:pPr>
            <a:r>
              <a:rPr lang="en-IN" dirty="0"/>
              <a:t>Pillow</a:t>
            </a:r>
          </a:p>
          <a:p>
            <a:pPr marL="514350" indent="-514350">
              <a:buFont typeface="+mj-lt"/>
              <a:buAutoNum type="arabicPeriod" startAt="10"/>
            </a:pPr>
            <a:r>
              <a:rPr lang="en-IN" dirty="0" err="1"/>
              <a:t>proglog</a:t>
            </a:r>
            <a:endParaRPr lang="en-IN" dirty="0"/>
          </a:p>
          <a:p>
            <a:pPr marL="514350" indent="-514350">
              <a:buFont typeface="+mj-lt"/>
              <a:buAutoNum type="arabicPeriod" startAt="10"/>
            </a:pPr>
            <a:r>
              <a:rPr lang="en-IN" dirty="0"/>
              <a:t>requests</a:t>
            </a:r>
          </a:p>
          <a:p>
            <a:pPr marL="514350" indent="-514350">
              <a:buFont typeface="+mj-lt"/>
              <a:buAutoNum type="arabicPeriod" startAt="10"/>
            </a:pPr>
            <a:r>
              <a:rPr lang="en-IN" dirty="0" err="1"/>
              <a:t>tqdm</a:t>
            </a:r>
            <a:endParaRPr lang="en-IN" dirty="0"/>
          </a:p>
          <a:p>
            <a:pPr marL="514350" indent="-514350">
              <a:buFont typeface="+mj-lt"/>
              <a:buAutoNum type="arabicPeriod" startAt="10"/>
            </a:pPr>
            <a:r>
              <a:rPr lang="en-IN" dirty="0"/>
              <a:t>urllib3</a:t>
            </a:r>
          </a:p>
          <a:p>
            <a:pPr marL="514350" indent="-514350">
              <a:buFont typeface="+mj-lt"/>
              <a:buAutoNum type="arabicPeriod" startAt="10"/>
            </a:pPr>
            <a:r>
              <a:rPr lang="en-IN" dirty="0" err="1"/>
              <a:t>wincertstore</a:t>
            </a:r>
            <a:endParaRPr lang="en-IN" dirty="0"/>
          </a:p>
        </p:txBody>
      </p:sp>
    </p:spTree>
    <p:extLst>
      <p:ext uri="{BB962C8B-B14F-4D97-AF65-F5344CB8AC3E}">
        <p14:creationId xmlns:p14="http://schemas.microsoft.com/office/powerpoint/2010/main" val="196869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7315-CA13-4C85-85D4-A925F163C5E4}"/>
              </a:ext>
            </a:extLst>
          </p:cNvPr>
          <p:cNvSpPr>
            <a:spLocks noGrp="1"/>
          </p:cNvSpPr>
          <p:nvPr>
            <p:ph type="title"/>
          </p:nvPr>
        </p:nvSpPr>
        <p:spPr>
          <a:xfrm>
            <a:off x="2231136" y="707243"/>
            <a:ext cx="7729728" cy="1188720"/>
          </a:xfrm>
        </p:spPr>
        <p:txBody>
          <a:bodyPr>
            <a:noAutofit/>
          </a:bodyPr>
          <a:lstStyle/>
          <a:p>
            <a:r>
              <a:rPr lang="en-IN" sz="3200" b="1" u="sng" dirty="0"/>
              <a:t>Hardware Components Requirements:</a:t>
            </a:r>
          </a:p>
        </p:txBody>
      </p:sp>
      <p:sp>
        <p:nvSpPr>
          <p:cNvPr id="3" name="Content Placeholder 2">
            <a:extLst>
              <a:ext uri="{FF2B5EF4-FFF2-40B4-BE49-F238E27FC236}">
                <a16:creationId xmlns:a16="http://schemas.microsoft.com/office/drawing/2014/main" id="{0F37A053-67E0-4D16-B0ED-99585C0926F9}"/>
              </a:ext>
            </a:extLst>
          </p:cNvPr>
          <p:cNvSpPr>
            <a:spLocks noGrp="1"/>
          </p:cNvSpPr>
          <p:nvPr>
            <p:ph idx="1"/>
          </p:nvPr>
        </p:nvSpPr>
        <p:spPr>
          <a:xfrm>
            <a:off x="528711" y="1895963"/>
            <a:ext cx="10515600" cy="4351338"/>
          </a:xfrm>
        </p:spPr>
        <p:txBody>
          <a:bodyPr>
            <a:normAutofit/>
          </a:bodyPr>
          <a:lstStyle/>
          <a:p>
            <a:endParaRPr lang="en-IN" sz="4000" dirty="0"/>
          </a:p>
          <a:p>
            <a:r>
              <a:rPr lang="en-IN" sz="4000" dirty="0"/>
              <a:t>Processor – i3 </a:t>
            </a:r>
          </a:p>
          <a:p>
            <a:r>
              <a:rPr lang="en-IN" sz="4000" dirty="0"/>
              <a:t>Hard Disk – 5 GB</a:t>
            </a:r>
          </a:p>
          <a:p>
            <a:r>
              <a:rPr lang="en-IN" sz="4000" dirty="0"/>
              <a:t>Memory – 1GB RAM</a:t>
            </a:r>
          </a:p>
        </p:txBody>
      </p:sp>
    </p:spTree>
    <p:extLst>
      <p:ext uri="{BB962C8B-B14F-4D97-AF65-F5344CB8AC3E}">
        <p14:creationId xmlns:p14="http://schemas.microsoft.com/office/powerpoint/2010/main" val="597640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09C683-7B9B-4C5B-BC28-43568A99F3D3}"/>
              </a:ext>
            </a:extLst>
          </p:cNvPr>
          <p:cNvSpPr>
            <a:spLocks noGrp="1"/>
          </p:cNvSpPr>
          <p:nvPr>
            <p:ph idx="1"/>
          </p:nvPr>
        </p:nvSpPr>
        <p:spPr>
          <a:xfrm>
            <a:off x="430236" y="573600"/>
            <a:ext cx="10823917" cy="5208221"/>
          </a:xfrm>
        </p:spPr>
        <p:txBody>
          <a:bodyPr>
            <a:normAutofit/>
          </a:bodyPr>
          <a:lstStyle/>
          <a:p>
            <a:pPr marL="0" indent="0">
              <a:buNone/>
            </a:pPr>
            <a:r>
              <a:rPr lang="en-US" sz="5400" b="1" u="sng" dirty="0"/>
              <a:t>Advantages: </a:t>
            </a:r>
          </a:p>
          <a:p>
            <a:r>
              <a:rPr lang="en-US" sz="3600" dirty="0"/>
              <a:t>The software can be used for security purposes in organizations and in secured zones. </a:t>
            </a:r>
          </a:p>
          <a:p>
            <a:r>
              <a:rPr lang="en-US" sz="3600" dirty="0"/>
              <a:t> The software stores the faces that are detected and automatically marks attendance. </a:t>
            </a:r>
          </a:p>
          <a:p>
            <a:r>
              <a:rPr lang="en-US" sz="3600" dirty="0"/>
              <a:t>The system is convenient and secure for the users.  It saves their time and efforts.</a:t>
            </a:r>
            <a:endParaRPr lang="en-IN" sz="3600" dirty="0"/>
          </a:p>
        </p:txBody>
      </p:sp>
    </p:spTree>
    <p:extLst>
      <p:ext uri="{BB962C8B-B14F-4D97-AF65-F5344CB8AC3E}">
        <p14:creationId xmlns:p14="http://schemas.microsoft.com/office/powerpoint/2010/main" val="2424061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D5178C-8546-4F36-B487-6A9CA62B92CB}"/>
              </a:ext>
            </a:extLst>
          </p:cNvPr>
          <p:cNvSpPr>
            <a:spLocks noGrp="1"/>
          </p:cNvSpPr>
          <p:nvPr>
            <p:ph idx="1"/>
          </p:nvPr>
        </p:nvSpPr>
        <p:spPr>
          <a:xfrm>
            <a:off x="838200" y="854955"/>
            <a:ext cx="10515600" cy="4351338"/>
          </a:xfrm>
        </p:spPr>
        <p:txBody>
          <a:bodyPr>
            <a:normAutofit/>
          </a:bodyPr>
          <a:lstStyle/>
          <a:p>
            <a:pPr marL="0" indent="0">
              <a:buNone/>
            </a:pPr>
            <a:r>
              <a:rPr lang="en-US" sz="5400" b="1" u="sng" dirty="0"/>
              <a:t>Disadvantages: </a:t>
            </a:r>
          </a:p>
          <a:p>
            <a:r>
              <a:rPr lang="en-US" sz="3600" dirty="0"/>
              <a:t> The system don’t recognize properly in poor light so may give false results. </a:t>
            </a:r>
          </a:p>
          <a:p>
            <a:r>
              <a:rPr lang="en-US" sz="3600" dirty="0"/>
              <a:t>It can only detect face from a limited distance.</a:t>
            </a:r>
            <a:endParaRPr lang="en-IN" sz="3600" dirty="0"/>
          </a:p>
          <a:p>
            <a:pPr marL="0" indent="0">
              <a:buNone/>
            </a:pPr>
            <a:endParaRPr lang="en-US" sz="5400" b="1" u="sng" dirty="0"/>
          </a:p>
        </p:txBody>
      </p:sp>
    </p:spTree>
    <p:extLst>
      <p:ext uri="{BB962C8B-B14F-4D97-AF65-F5344CB8AC3E}">
        <p14:creationId xmlns:p14="http://schemas.microsoft.com/office/powerpoint/2010/main" val="288469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26736C-F8A4-4FEF-B148-083F2EB85F10}"/>
              </a:ext>
            </a:extLst>
          </p:cNvPr>
          <p:cNvSpPr>
            <a:spLocks noGrp="1"/>
          </p:cNvSpPr>
          <p:nvPr>
            <p:ph idx="1"/>
          </p:nvPr>
        </p:nvSpPr>
        <p:spPr>
          <a:xfrm>
            <a:off x="739726" y="517330"/>
            <a:ext cx="10515600" cy="4351338"/>
          </a:xfrm>
        </p:spPr>
        <p:txBody>
          <a:bodyPr/>
          <a:lstStyle/>
          <a:p>
            <a:pPr marL="0" indent="0">
              <a:buNone/>
            </a:pPr>
            <a:r>
              <a:rPr lang="en-US" sz="5400" b="1" u="sng" dirty="0"/>
              <a:t>Applications: </a:t>
            </a:r>
          </a:p>
          <a:p>
            <a:r>
              <a:rPr lang="en-US" sz="3200" dirty="0"/>
              <a:t>The system can be used for places that require security like bank, military etc. </a:t>
            </a:r>
          </a:p>
          <a:p>
            <a:r>
              <a:rPr lang="en-US" sz="3200" dirty="0"/>
              <a:t>It can also be used in houses and society to recognize the outsiders and save their identity. </a:t>
            </a:r>
          </a:p>
          <a:p>
            <a:r>
              <a:rPr lang="en-US" sz="3200" dirty="0"/>
              <a:t>The software can used to mark attendance based on face recognition in organizations.</a:t>
            </a:r>
            <a:endParaRPr lang="en-IN" sz="3200" dirty="0"/>
          </a:p>
        </p:txBody>
      </p:sp>
    </p:spTree>
    <p:extLst>
      <p:ext uri="{BB962C8B-B14F-4D97-AF65-F5344CB8AC3E}">
        <p14:creationId xmlns:p14="http://schemas.microsoft.com/office/powerpoint/2010/main" val="959406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85511-CD5F-4E23-AC02-F9012C05AE1E}"/>
              </a:ext>
            </a:extLst>
          </p:cNvPr>
          <p:cNvSpPr>
            <a:spLocks noGrp="1"/>
          </p:cNvSpPr>
          <p:nvPr>
            <p:ph type="title"/>
          </p:nvPr>
        </p:nvSpPr>
        <p:spPr>
          <a:xfrm>
            <a:off x="1565734" y="1780617"/>
            <a:ext cx="9060532" cy="3016465"/>
          </a:xfrm>
        </p:spPr>
        <p:txBody>
          <a:bodyPr>
            <a:normAutofit/>
          </a:bodyPr>
          <a:lstStyle/>
          <a:p>
            <a:r>
              <a:rPr lang="en-US" sz="5400" b="1" u="sng" dirty="0"/>
              <a:t>REQUIREMENT ANALYSIS DOCUMENT:-</a:t>
            </a:r>
            <a:endParaRPr lang="en-IN" sz="5400" b="1" u="sng" dirty="0"/>
          </a:p>
        </p:txBody>
      </p:sp>
    </p:spTree>
    <p:extLst>
      <p:ext uri="{BB962C8B-B14F-4D97-AF65-F5344CB8AC3E}">
        <p14:creationId xmlns:p14="http://schemas.microsoft.com/office/powerpoint/2010/main" val="3657054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895F-B40E-4A27-B972-AF1C6C1B086E}"/>
              </a:ext>
            </a:extLst>
          </p:cNvPr>
          <p:cNvSpPr>
            <a:spLocks noGrp="1"/>
          </p:cNvSpPr>
          <p:nvPr>
            <p:ph type="title"/>
          </p:nvPr>
        </p:nvSpPr>
        <p:spPr>
          <a:xfrm>
            <a:off x="2231136" y="627068"/>
            <a:ext cx="7729728" cy="1188720"/>
          </a:xfrm>
        </p:spPr>
        <p:txBody>
          <a:bodyPr>
            <a:normAutofit/>
          </a:bodyPr>
          <a:lstStyle/>
          <a:p>
            <a:pPr marL="742950" indent="-742950">
              <a:buFont typeface="+mj-lt"/>
              <a:buAutoNum type="arabicPeriod"/>
            </a:pPr>
            <a:r>
              <a:rPr lang="en-US" sz="4000" b="1" u="sng" dirty="0"/>
              <a:t>INTRODUCTION:</a:t>
            </a:r>
            <a:endParaRPr lang="en-IN" sz="4000" b="1" u="sng" dirty="0"/>
          </a:p>
        </p:txBody>
      </p:sp>
      <p:sp>
        <p:nvSpPr>
          <p:cNvPr id="3" name="Content Placeholder 2">
            <a:extLst>
              <a:ext uri="{FF2B5EF4-FFF2-40B4-BE49-F238E27FC236}">
                <a16:creationId xmlns:a16="http://schemas.microsoft.com/office/drawing/2014/main" id="{5ACCD120-C78B-4B30-8C45-2FB3E2E76F92}"/>
              </a:ext>
            </a:extLst>
          </p:cNvPr>
          <p:cNvSpPr>
            <a:spLocks noGrp="1"/>
          </p:cNvSpPr>
          <p:nvPr>
            <p:ph idx="1"/>
          </p:nvPr>
        </p:nvSpPr>
        <p:spPr>
          <a:xfrm>
            <a:off x="717452" y="2293034"/>
            <a:ext cx="10353822" cy="4079631"/>
          </a:xfrm>
        </p:spPr>
        <p:txBody>
          <a:bodyPr>
            <a:normAutofit fontScale="92500" lnSpcReduction="10000"/>
          </a:bodyPr>
          <a:lstStyle/>
          <a:p>
            <a:pPr marL="0" indent="0" algn="l">
              <a:buNone/>
            </a:pPr>
            <a:r>
              <a:rPr lang="en-US" sz="3600" b="0" i="0" dirty="0">
                <a:solidFill>
                  <a:srgbClr val="000000"/>
                </a:solidFill>
                <a:effectLst/>
                <a:latin typeface="ff1"/>
              </a:rPr>
              <a:t>Every organization requires a robust and stable system to </a:t>
            </a:r>
          </a:p>
          <a:p>
            <a:pPr marL="0" indent="0" algn="l">
              <a:buNone/>
            </a:pPr>
            <a:r>
              <a:rPr lang="en-US" sz="3600" b="0" i="0" dirty="0">
                <a:solidFill>
                  <a:srgbClr val="000000"/>
                </a:solidFill>
                <a:effectLst/>
                <a:latin typeface="ff1"/>
              </a:rPr>
              <a:t>record the attendance of their students and every </a:t>
            </a:r>
          </a:p>
          <a:p>
            <a:pPr marL="0" indent="0" algn="l">
              <a:buNone/>
            </a:pPr>
            <a:r>
              <a:rPr lang="en-US" sz="3600" b="0" i="0" dirty="0">
                <a:solidFill>
                  <a:srgbClr val="000000"/>
                </a:solidFill>
                <a:effectLst/>
                <a:latin typeface="ff1"/>
              </a:rPr>
              <a:t>organization have their own method to do so, some are </a:t>
            </a:r>
          </a:p>
          <a:p>
            <a:pPr marL="0" indent="0" algn="l">
              <a:buNone/>
            </a:pPr>
            <a:r>
              <a:rPr lang="en-US" sz="3600" b="0" i="0" dirty="0">
                <a:solidFill>
                  <a:srgbClr val="000000"/>
                </a:solidFill>
                <a:effectLst/>
                <a:latin typeface="ff1"/>
              </a:rPr>
              <a:t>taking attendance manually with a sheet of paper by </a:t>
            </a:r>
          </a:p>
          <a:p>
            <a:pPr marL="0" indent="0" algn="l">
              <a:buNone/>
            </a:pPr>
            <a:r>
              <a:rPr lang="en-US" sz="3600" b="0" i="0" dirty="0">
                <a:solidFill>
                  <a:srgbClr val="000000"/>
                </a:solidFill>
                <a:effectLst/>
                <a:latin typeface="ff1"/>
              </a:rPr>
              <a:t>calling their names during lecture hours and some have </a:t>
            </a:r>
          </a:p>
          <a:p>
            <a:pPr marL="0" indent="0" algn="l">
              <a:buNone/>
            </a:pPr>
            <a:r>
              <a:rPr lang="en-US" sz="3600" b="0" i="0" dirty="0">
                <a:solidFill>
                  <a:srgbClr val="000000"/>
                </a:solidFill>
                <a:effectLst/>
                <a:latin typeface="ff1"/>
              </a:rPr>
              <a:t>adopted biometrics system such as fingerprint, RFID card </a:t>
            </a:r>
          </a:p>
          <a:p>
            <a:pPr marL="0" indent="0" algn="l">
              <a:buNone/>
            </a:pPr>
            <a:r>
              <a:rPr lang="en-US" sz="3600" b="0" i="0" dirty="0">
                <a:solidFill>
                  <a:srgbClr val="000000"/>
                </a:solidFill>
                <a:effectLst/>
                <a:latin typeface="ff1"/>
              </a:rPr>
              <a:t>reader, Iris system to mark the attendance. </a:t>
            </a:r>
          </a:p>
          <a:p>
            <a:pPr marL="0" indent="0">
              <a:buNone/>
            </a:pPr>
            <a:endParaRPr lang="en-IN" sz="3600" dirty="0"/>
          </a:p>
        </p:txBody>
      </p:sp>
    </p:spTree>
    <p:extLst>
      <p:ext uri="{BB962C8B-B14F-4D97-AF65-F5344CB8AC3E}">
        <p14:creationId xmlns:p14="http://schemas.microsoft.com/office/powerpoint/2010/main" val="601457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85B26E-27A8-4F98-8D37-3823ECC8E8D0}"/>
              </a:ext>
            </a:extLst>
          </p:cNvPr>
          <p:cNvSpPr>
            <a:spLocks noGrp="1"/>
          </p:cNvSpPr>
          <p:nvPr>
            <p:ph idx="1"/>
          </p:nvPr>
        </p:nvSpPr>
        <p:spPr>
          <a:xfrm>
            <a:off x="759655" y="1069146"/>
            <a:ext cx="9201209" cy="4670882"/>
          </a:xfrm>
        </p:spPr>
        <p:txBody>
          <a:bodyPr>
            <a:normAutofit lnSpcReduction="10000"/>
          </a:bodyPr>
          <a:lstStyle/>
          <a:p>
            <a:r>
              <a:rPr lang="en-US" sz="3200" b="0" i="0" dirty="0">
                <a:solidFill>
                  <a:srgbClr val="000000"/>
                </a:solidFill>
                <a:effectLst/>
                <a:latin typeface="ff1"/>
              </a:rPr>
              <a:t>The  conventional method of calling the names of students manually is time consuming event.</a:t>
            </a:r>
          </a:p>
          <a:p>
            <a:r>
              <a:rPr lang="en-US" sz="3200" b="0" i="0" dirty="0">
                <a:solidFill>
                  <a:srgbClr val="000000"/>
                </a:solidFill>
                <a:effectLst/>
                <a:latin typeface="ff1"/>
              </a:rPr>
              <a:t> The RFID card  system, each student assigns a card with their corresponding identity but there is chance of card loss or unauthorized person may misuse the card for fake attendance. </a:t>
            </a:r>
          </a:p>
          <a:p>
            <a:r>
              <a:rPr lang="en-US" sz="3200" b="0" i="0" dirty="0">
                <a:solidFill>
                  <a:srgbClr val="000000"/>
                </a:solidFill>
                <a:effectLst/>
                <a:latin typeface="ff1"/>
              </a:rPr>
              <a:t>While in other biometrics such as finger print, iris or voice recognition, they all have their own flaws and also they are not 100% accurate</a:t>
            </a:r>
          </a:p>
          <a:p>
            <a:endParaRPr lang="en-IN" sz="3200" dirty="0"/>
          </a:p>
        </p:txBody>
      </p:sp>
    </p:spTree>
    <p:extLst>
      <p:ext uri="{BB962C8B-B14F-4D97-AF65-F5344CB8AC3E}">
        <p14:creationId xmlns:p14="http://schemas.microsoft.com/office/powerpoint/2010/main" val="2533685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E37A-2A12-4953-BE8C-176B130E279B}"/>
              </a:ext>
            </a:extLst>
          </p:cNvPr>
          <p:cNvSpPr>
            <a:spLocks noGrp="1"/>
          </p:cNvSpPr>
          <p:nvPr>
            <p:ph type="title"/>
          </p:nvPr>
        </p:nvSpPr>
        <p:spPr/>
        <p:txBody>
          <a:bodyPr/>
          <a:lstStyle/>
          <a:p>
            <a:r>
              <a:rPr lang="en-US"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 PURPOSE of the System</a:t>
            </a:r>
            <a:endParaRPr lang="en-IN" dirty="0"/>
          </a:p>
        </p:txBody>
      </p:sp>
      <p:sp>
        <p:nvSpPr>
          <p:cNvPr id="3" name="Content Placeholder 2">
            <a:extLst>
              <a:ext uri="{FF2B5EF4-FFF2-40B4-BE49-F238E27FC236}">
                <a16:creationId xmlns:a16="http://schemas.microsoft.com/office/drawing/2014/main" id="{E2DE1BF4-1988-4FF0-83BA-61F3B73B57B4}"/>
              </a:ext>
            </a:extLst>
          </p:cNvPr>
          <p:cNvSpPr>
            <a:spLocks noGrp="1"/>
          </p:cNvSpPr>
          <p:nvPr>
            <p:ph idx="1"/>
          </p:nvPr>
        </p:nvSpPr>
        <p:spPr>
          <a:xfrm>
            <a:off x="1111348" y="2502586"/>
            <a:ext cx="9496630" cy="3390722"/>
          </a:xfrm>
        </p:spPr>
        <p:txBody>
          <a:bodyPr>
            <a:normAutofit/>
          </a:bodyPr>
          <a:lstStyle/>
          <a:p>
            <a:r>
              <a:rPr lang="en-US" sz="2800" b="0" i="0" dirty="0">
                <a:solidFill>
                  <a:schemeClr val="tx1"/>
                </a:solidFill>
                <a:effectLst/>
                <a:latin typeface="arial" panose="020B0604020202020204" pitchFamily="34" charset="0"/>
              </a:rPr>
              <a:t>A face recognition attendance system makes </a:t>
            </a:r>
            <a:r>
              <a:rPr lang="en-US" sz="2800" b="1" i="0" dirty="0">
                <a:solidFill>
                  <a:schemeClr val="tx1"/>
                </a:solidFill>
                <a:effectLst/>
                <a:latin typeface="arial" panose="020B0604020202020204" pitchFamily="34" charset="0"/>
              </a:rPr>
              <a:t>use of facial recognition technology to identify and verify a person and mark attendance automatically</a:t>
            </a:r>
            <a:r>
              <a:rPr lang="en-US" sz="2800" b="0" i="0" dirty="0">
                <a:solidFill>
                  <a:schemeClr val="tx1"/>
                </a:solidFill>
                <a:effectLst/>
                <a:latin typeface="arial" panose="020B0604020202020204" pitchFamily="34" charset="0"/>
              </a:rPr>
              <a:t>. ... A facial recognition attendance system is a contactless technology that provides freedom from any physical interaction between the man and the machine.</a:t>
            </a:r>
            <a:endParaRPr lang="en-IN" sz="2800" dirty="0">
              <a:solidFill>
                <a:schemeClr val="tx1"/>
              </a:solidFill>
            </a:endParaRPr>
          </a:p>
        </p:txBody>
      </p:sp>
    </p:spTree>
    <p:extLst>
      <p:ext uri="{BB962C8B-B14F-4D97-AF65-F5344CB8AC3E}">
        <p14:creationId xmlns:p14="http://schemas.microsoft.com/office/powerpoint/2010/main" val="1154335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303F9-6DA6-4175-91DC-66589303F8C1}"/>
              </a:ext>
            </a:extLst>
          </p:cNvPr>
          <p:cNvSpPr>
            <a:spLocks noGrp="1"/>
          </p:cNvSpPr>
          <p:nvPr>
            <p:ph type="title"/>
          </p:nvPr>
        </p:nvSpPr>
        <p:spPr>
          <a:xfrm>
            <a:off x="1991985" y="261307"/>
            <a:ext cx="7729728" cy="1188720"/>
          </a:xfrm>
        </p:spPr>
        <p:txBody>
          <a:bodyPr>
            <a:normAutofit fontScale="90000"/>
          </a:bodyPr>
          <a:lstStyle/>
          <a:p>
            <a:r>
              <a:rPr lang="en-US" sz="4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1.2 SCOPE of the System</a:t>
            </a:r>
            <a:br>
              <a:rPr lang="en-US" sz="2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D972D24-0203-4A2C-B722-83487FE9F1DC}"/>
              </a:ext>
            </a:extLst>
          </p:cNvPr>
          <p:cNvSpPr>
            <a:spLocks noGrp="1"/>
          </p:cNvSpPr>
          <p:nvPr>
            <p:ph idx="1"/>
          </p:nvPr>
        </p:nvSpPr>
        <p:spPr>
          <a:xfrm>
            <a:off x="928468" y="2082018"/>
            <a:ext cx="9032396" cy="3658009"/>
          </a:xfrm>
        </p:spPr>
        <p:txBody>
          <a:bodyPr>
            <a:normAutofit/>
          </a:bodyPr>
          <a:lstStyle/>
          <a:p>
            <a:r>
              <a:rPr lang="en-US" sz="3200" dirty="0"/>
              <a:t>The main objective of this project is to offer system that simplify and automate the process of recording and tracking students' attendance through face recognition technology.</a:t>
            </a:r>
          </a:p>
          <a:p>
            <a:r>
              <a:rPr lang="en-US" sz="3200" dirty="0"/>
              <a:t> It is biometric technology to identify or verify a person from a digital image or surveillance video.</a:t>
            </a:r>
            <a:endParaRPr lang="en-IN" sz="3200" dirty="0"/>
          </a:p>
        </p:txBody>
      </p:sp>
    </p:spTree>
    <p:extLst>
      <p:ext uri="{BB962C8B-B14F-4D97-AF65-F5344CB8AC3E}">
        <p14:creationId xmlns:p14="http://schemas.microsoft.com/office/powerpoint/2010/main" val="3664800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13EC-D4C1-47C5-85E4-B0C9F8872DC9}"/>
              </a:ext>
            </a:extLst>
          </p:cNvPr>
          <p:cNvSpPr>
            <a:spLocks noGrp="1"/>
          </p:cNvSpPr>
          <p:nvPr>
            <p:ph type="title"/>
          </p:nvPr>
        </p:nvSpPr>
        <p:spPr>
          <a:xfrm>
            <a:off x="2180492" y="773723"/>
            <a:ext cx="7780372" cy="1379689"/>
          </a:xfrm>
        </p:spPr>
        <p:txBody>
          <a:bodyPr/>
          <a:lstStyle/>
          <a:p>
            <a:r>
              <a:rPr lang="en-US" b="1" u="sng" dirty="0"/>
              <a:t>1.3 OBJECTIVE AND SUCCESS CRITERIA OF THE SYSTEM</a:t>
            </a:r>
            <a:endParaRPr lang="en-IN" b="1" u="sng" dirty="0"/>
          </a:p>
        </p:txBody>
      </p:sp>
      <p:sp>
        <p:nvSpPr>
          <p:cNvPr id="3" name="Content Placeholder 2">
            <a:extLst>
              <a:ext uri="{FF2B5EF4-FFF2-40B4-BE49-F238E27FC236}">
                <a16:creationId xmlns:a16="http://schemas.microsoft.com/office/drawing/2014/main" id="{81F2B8E4-689C-4394-9177-7EC0D5117D7F}"/>
              </a:ext>
            </a:extLst>
          </p:cNvPr>
          <p:cNvSpPr>
            <a:spLocks noGrp="1"/>
          </p:cNvSpPr>
          <p:nvPr>
            <p:ph idx="1"/>
          </p:nvPr>
        </p:nvSpPr>
        <p:spPr>
          <a:xfrm>
            <a:off x="1434905" y="2638044"/>
            <a:ext cx="9580097" cy="3101983"/>
          </a:xfrm>
        </p:spPr>
        <p:txBody>
          <a:bodyPr>
            <a:normAutofit/>
          </a:bodyPr>
          <a:lstStyle/>
          <a:p>
            <a:r>
              <a:rPr lang="en-US" sz="2800" dirty="0"/>
              <a:t>Instead of using the conventional methods, this proposed system aims to develop an automated system that records the student's attendance by using facial recognition technology. </a:t>
            </a:r>
          </a:p>
          <a:p>
            <a:r>
              <a:rPr lang="en-US" sz="2800" dirty="0"/>
              <a:t>The main objective of this work is to make the attendance marking and management system efficient, time saving, simple and easy.</a:t>
            </a:r>
          </a:p>
          <a:p>
            <a:pPr marL="0" indent="0">
              <a:buNone/>
            </a:pPr>
            <a:endParaRPr lang="en-IN" sz="2800" dirty="0"/>
          </a:p>
        </p:txBody>
      </p:sp>
    </p:spTree>
    <p:extLst>
      <p:ext uri="{BB962C8B-B14F-4D97-AF65-F5344CB8AC3E}">
        <p14:creationId xmlns:p14="http://schemas.microsoft.com/office/powerpoint/2010/main" val="1254585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A157-E6AA-414B-8585-4F3EBE36237B}"/>
              </a:ext>
            </a:extLst>
          </p:cNvPr>
          <p:cNvSpPr>
            <a:spLocks noGrp="1"/>
          </p:cNvSpPr>
          <p:nvPr>
            <p:ph type="title"/>
          </p:nvPr>
        </p:nvSpPr>
        <p:spPr/>
        <p:txBody>
          <a:bodyPr/>
          <a:lstStyle/>
          <a:p>
            <a:r>
              <a:rPr lang="en-US" b="1" u="sng" dirty="0"/>
              <a:t>1.4 REFERENCES</a:t>
            </a:r>
            <a:r>
              <a:rPr lang="en-US" dirty="0"/>
              <a:t>:</a:t>
            </a:r>
            <a:endParaRPr lang="en-IN" dirty="0"/>
          </a:p>
        </p:txBody>
      </p:sp>
      <p:sp>
        <p:nvSpPr>
          <p:cNvPr id="3" name="Content Placeholder 2">
            <a:extLst>
              <a:ext uri="{FF2B5EF4-FFF2-40B4-BE49-F238E27FC236}">
                <a16:creationId xmlns:a16="http://schemas.microsoft.com/office/drawing/2014/main" id="{B88A18F9-C355-4DB5-B385-B5E418C22B22}"/>
              </a:ext>
            </a:extLst>
          </p:cNvPr>
          <p:cNvSpPr>
            <a:spLocks noGrp="1"/>
          </p:cNvSpPr>
          <p:nvPr>
            <p:ph idx="1"/>
          </p:nvPr>
        </p:nvSpPr>
        <p:spPr>
          <a:xfrm>
            <a:off x="1139483" y="2638044"/>
            <a:ext cx="9622301" cy="3931568"/>
          </a:xfrm>
        </p:spPr>
        <p:txBody>
          <a:bodyPr>
            <a:normAutofit fontScale="92500" lnSpcReduction="10000"/>
          </a:bodyPr>
          <a:lstStyle/>
          <a:p>
            <a:pPr marL="0" indent="0" algn="l">
              <a:buNone/>
            </a:pPr>
            <a:r>
              <a:rPr lang="en-IN" sz="2000" b="0" i="0" dirty="0">
                <a:solidFill>
                  <a:srgbClr val="000000"/>
                </a:solidFill>
                <a:effectLst/>
                <a:latin typeface="ff1"/>
              </a:rPr>
              <a:t>[1] ttps://www.researchgate.net/publication/326261079_Face_detection_ </a:t>
            </a:r>
          </a:p>
          <a:p>
            <a:pPr marL="0" indent="0" algn="l">
              <a:buNone/>
            </a:pPr>
            <a:r>
              <a:rPr lang="en-IN" sz="2000" b="0" i="0" dirty="0" err="1">
                <a:solidFill>
                  <a:srgbClr val="000000"/>
                </a:solidFill>
                <a:effectLst/>
                <a:latin typeface="ff1"/>
              </a:rPr>
              <a:t>system_for_attendanc</a:t>
            </a:r>
            <a:r>
              <a:rPr lang="en-IN" sz="2000" b="0" i="0" dirty="0" err="1">
                <a:solidFill>
                  <a:srgbClr val="000000"/>
                </a:solidFill>
                <a:effectLst/>
                <a:latin typeface="ff4"/>
              </a:rPr>
              <a:t>e_of_class’_students</a:t>
            </a:r>
            <a:r>
              <a:rPr lang="en-IN" sz="2000" b="0" i="0" dirty="0">
                <a:solidFill>
                  <a:srgbClr val="000000"/>
                </a:solidFill>
                <a:effectLst/>
                <a:latin typeface="ff4"/>
              </a:rPr>
              <a:t> </a:t>
            </a:r>
          </a:p>
          <a:p>
            <a:pPr marL="0" indent="0" algn="l">
              <a:buNone/>
            </a:pPr>
            <a:endParaRPr lang="en-IN" sz="2000" b="0" i="0" dirty="0">
              <a:solidFill>
                <a:srgbClr val="000000"/>
              </a:solidFill>
              <a:effectLst/>
              <a:latin typeface="ff1"/>
            </a:endParaRPr>
          </a:p>
          <a:p>
            <a:pPr marL="0" indent="0" algn="l">
              <a:buNone/>
            </a:pPr>
            <a:r>
              <a:rPr lang="en-IN" sz="2000" b="0" i="0" dirty="0">
                <a:solidFill>
                  <a:srgbClr val="000000"/>
                </a:solidFill>
                <a:effectLst/>
                <a:latin typeface="ff1"/>
              </a:rPr>
              <a:t>[2] </a:t>
            </a:r>
            <a:r>
              <a:rPr lang="en-IN" sz="2000" b="0" i="0" dirty="0" err="1">
                <a:solidFill>
                  <a:srgbClr val="000000"/>
                </a:solidFill>
                <a:effectLst/>
                <a:latin typeface="ff1"/>
              </a:rPr>
              <a:t>Hapani</a:t>
            </a:r>
            <a:r>
              <a:rPr lang="en-IN" sz="2000" b="0" i="0" dirty="0">
                <a:solidFill>
                  <a:srgbClr val="000000"/>
                </a:solidFill>
                <a:effectLst/>
                <a:latin typeface="ff1"/>
              </a:rPr>
              <a:t>, Smit, et al. "Automated Attendance System Using Image </a:t>
            </a:r>
          </a:p>
          <a:p>
            <a:pPr marL="0" indent="0" algn="l">
              <a:buNone/>
            </a:pPr>
            <a:r>
              <a:rPr lang="en-IN" sz="2000" b="0" i="0" dirty="0">
                <a:solidFill>
                  <a:srgbClr val="000000"/>
                </a:solidFill>
                <a:effectLst/>
                <a:latin typeface="ff1"/>
              </a:rPr>
              <a:t>Processing." 2018 Fourth International Conference on Computing </a:t>
            </a:r>
          </a:p>
          <a:p>
            <a:pPr marL="0" indent="0" algn="l">
              <a:buNone/>
            </a:pPr>
            <a:r>
              <a:rPr lang="en-IN" sz="2000" b="0" i="0" dirty="0">
                <a:solidFill>
                  <a:srgbClr val="000000"/>
                </a:solidFill>
                <a:effectLst/>
                <a:latin typeface="ff1"/>
              </a:rPr>
              <a:t>Communication Control and Automation (ICCUBEA). IEEE, 2018.</a:t>
            </a:r>
          </a:p>
          <a:p>
            <a:pPr marL="0" indent="0" algn="l">
              <a:buNone/>
            </a:pPr>
            <a:r>
              <a:rPr lang="en-IN" sz="2000" b="0" i="0" dirty="0">
                <a:solidFill>
                  <a:srgbClr val="000000"/>
                </a:solidFill>
                <a:effectLst/>
                <a:latin typeface="ff1"/>
              </a:rPr>
              <a:t> </a:t>
            </a:r>
          </a:p>
          <a:p>
            <a:pPr marL="0" indent="0" algn="l">
              <a:buNone/>
            </a:pPr>
            <a:r>
              <a:rPr lang="en-IN" sz="2000" b="0" i="0" dirty="0">
                <a:solidFill>
                  <a:srgbClr val="000000"/>
                </a:solidFill>
                <a:effectLst/>
                <a:latin typeface="ff1"/>
              </a:rPr>
              <a:t>[3] Akbar, Md Sajid, et al. "Face Recognition and RFID Verified </a:t>
            </a:r>
          </a:p>
          <a:p>
            <a:pPr marL="0" indent="0" algn="l">
              <a:buNone/>
            </a:pPr>
            <a:r>
              <a:rPr lang="en-IN" sz="2000" b="0" i="0" dirty="0">
                <a:solidFill>
                  <a:srgbClr val="000000"/>
                </a:solidFill>
                <a:effectLst/>
                <a:latin typeface="ff1"/>
              </a:rPr>
              <a:t>Attendance System." 2018 International Conference on Computing, </a:t>
            </a:r>
          </a:p>
          <a:p>
            <a:pPr marL="0" indent="0" algn="l">
              <a:buNone/>
            </a:pPr>
            <a:r>
              <a:rPr lang="en-IN" sz="2000" b="0" i="0" dirty="0">
                <a:solidFill>
                  <a:srgbClr val="000000"/>
                </a:solidFill>
                <a:effectLst/>
                <a:latin typeface="ff1"/>
              </a:rPr>
              <a:t>Electronics &amp; Communications Engineering (</a:t>
            </a:r>
            <a:r>
              <a:rPr lang="en-IN" sz="2000" b="0" i="0" dirty="0" err="1">
                <a:solidFill>
                  <a:srgbClr val="000000"/>
                </a:solidFill>
                <a:effectLst/>
                <a:latin typeface="ff1"/>
              </a:rPr>
              <a:t>iCCECE</a:t>
            </a:r>
            <a:r>
              <a:rPr lang="en-IN" sz="2000" b="0" i="0" dirty="0">
                <a:solidFill>
                  <a:srgbClr val="000000"/>
                </a:solidFill>
                <a:effectLst/>
                <a:latin typeface="ff1"/>
              </a:rPr>
              <a:t>). IEEE, 2018.</a:t>
            </a:r>
          </a:p>
        </p:txBody>
      </p:sp>
    </p:spTree>
    <p:extLst>
      <p:ext uri="{BB962C8B-B14F-4D97-AF65-F5344CB8AC3E}">
        <p14:creationId xmlns:p14="http://schemas.microsoft.com/office/powerpoint/2010/main" val="313256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B5CBB-6281-4BCB-B2A8-31EF9706CCB1}"/>
              </a:ext>
            </a:extLst>
          </p:cNvPr>
          <p:cNvSpPr>
            <a:spLocks noGrp="1"/>
          </p:cNvSpPr>
          <p:nvPr>
            <p:ph idx="1"/>
          </p:nvPr>
        </p:nvSpPr>
        <p:spPr>
          <a:xfrm>
            <a:off x="1012875" y="422031"/>
            <a:ext cx="9467556" cy="5753685"/>
          </a:xfrm>
        </p:spPr>
        <p:txBody>
          <a:bodyPr>
            <a:noAutofit/>
          </a:bodyPr>
          <a:lstStyle/>
          <a:p>
            <a:pPr marL="0" indent="0">
              <a:buNone/>
            </a:pPr>
            <a:r>
              <a:rPr lang="en-IN" sz="2000" b="0" i="0" dirty="0">
                <a:solidFill>
                  <a:srgbClr val="000000"/>
                </a:solidFill>
                <a:effectLst/>
                <a:latin typeface="ff1"/>
              </a:rPr>
              <a:t>[4] </a:t>
            </a:r>
            <a:r>
              <a:rPr lang="en-IN" sz="2000" b="0" i="0" dirty="0" err="1">
                <a:solidFill>
                  <a:srgbClr val="000000"/>
                </a:solidFill>
                <a:effectLst/>
                <a:latin typeface="ff1"/>
              </a:rPr>
              <a:t>Okokpujie</a:t>
            </a:r>
            <a:r>
              <a:rPr lang="en-IN" sz="2000" b="0" i="0" dirty="0">
                <a:solidFill>
                  <a:srgbClr val="000000"/>
                </a:solidFill>
                <a:effectLst/>
                <a:latin typeface="ff1"/>
              </a:rPr>
              <a:t>, Kennedy O., et al. "Design and implementation of a </a:t>
            </a:r>
          </a:p>
          <a:p>
            <a:pPr marL="0" indent="0">
              <a:buNone/>
            </a:pPr>
            <a:r>
              <a:rPr lang="en-IN" sz="2000" b="0" i="0" dirty="0">
                <a:solidFill>
                  <a:srgbClr val="000000"/>
                </a:solidFill>
                <a:effectLst/>
                <a:latin typeface="ff1"/>
              </a:rPr>
              <a:t>student attendance system using iris biometric recognition." 2017 </a:t>
            </a:r>
          </a:p>
          <a:p>
            <a:pPr marL="0" indent="0">
              <a:buNone/>
            </a:pPr>
            <a:r>
              <a:rPr lang="en-IN" sz="2000" b="0" i="0" dirty="0">
                <a:solidFill>
                  <a:srgbClr val="000000"/>
                </a:solidFill>
                <a:effectLst/>
                <a:latin typeface="ff1"/>
              </a:rPr>
              <a:t>International Conference on Computational Science and </a:t>
            </a:r>
          </a:p>
          <a:p>
            <a:pPr marL="0" indent="0">
              <a:buNone/>
            </a:pPr>
            <a:r>
              <a:rPr lang="en-IN" sz="2000" b="0" i="0" dirty="0">
                <a:solidFill>
                  <a:srgbClr val="000000"/>
                </a:solidFill>
                <a:effectLst/>
                <a:latin typeface="ff1"/>
              </a:rPr>
              <a:t>Computational Intelligence (CSCI). IEEE, 2017. </a:t>
            </a:r>
          </a:p>
          <a:p>
            <a:pPr marL="0" indent="0">
              <a:buNone/>
            </a:pPr>
            <a:endParaRPr lang="en-IN" sz="2000" b="0" i="0" dirty="0">
              <a:solidFill>
                <a:srgbClr val="000000"/>
              </a:solidFill>
              <a:effectLst/>
              <a:latin typeface="ff1"/>
            </a:endParaRPr>
          </a:p>
          <a:p>
            <a:pPr marL="0" indent="0">
              <a:buNone/>
            </a:pPr>
            <a:r>
              <a:rPr lang="en-IN" sz="2000" b="0" i="0" dirty="0">
                <a:solidFill>
                  <a:srgbClr val="000000"/>
                </a:solidFill>
                <a:effectLst/>
                <a:latin typeface="ff1"/>
              </a:rPr>
              <a:t>[5] Rathod, </a:t>
            </a:r>
            <a:r>
              <a:rPr lang="en-IN" sz="2000" b="0" i="0" dirty="0" err="1">
                <a:solidFill>
                  <a:srgbClr val="000000"/>
                </a:solidFill>
                <a:effectLst/>
                <a:latin typeface="ff1"/>
              </a:rPr>
              <a:t>Hemantkumar</a:t>
            </a:r>
            <a:r>
              <a:rPr lang="en-IN" sz="2000" b="0" i="0" dirty="0">
                <a:solidFill>
                  <a:srgbClr val="000000"/>
                </a:solidFill>
                <a:effectLst/>
                <a:latin typeface="ff1"/>
              </a:rPr>
              <a:t>, et al. "Automated attendance system using </a:t>
            </a:r>
          </a:p>
          <a:p>
            <a:pPr marL="0" indent="0">
              <a:buNone/>
            </a:pPr>
            <a:r>
              <a:rPr lang="en-IN" sz="2000" b="0" i="0" dirty="0">
                <a:solidFill>
                  <a:srgbClr val="000000"/>
                </a:solidFill>
                <a:effectLst/>
                <a:latin typeface="ff1"/>
              </a:rPr>
              <a:t>machine learning approach." 2017 International Conference on </a:t>
            </a:r>
          </a:p>
          <a:p>
            <a:pPr marL="0" indent="0">
              <a:buNone/>
            </a:pPr>
            <a:r>
              <a:rPr lang="en-IN" sz="2000" b="0" i="0" dirty="0">
                <a:solidFill>
                  <a:srgbClr val="000000"/>
                </a:solidFill>
                <a:effectLst/>
                <a:latin typeface="ff1"/>
              </a:rPr>
              <a:t>Nascent Technologies in Engineering (ICNTE). IEEE, 2017. </a:t>
            </a:r>
          </a:p>
          <a:p>
            <a:pPr marL="0" indent="0">
              <a:buNone/>
            </a:pPr>
            <a:endParaRPr lang="en-IN" sz="2000" b="0" i="0" dirty="0">
              <a:solidFill>
                <a:srgbClr val="000000"/>
              </a:solidFill>
              <a:effectLst/>
              <a:latin typeface="ff1"/>
            </a:endParaRPr>
          </a:p>
          <a:p>
            <a:pPr marL="0" indent="0">
              <a:buNone/>
            </a:pPr>
            <a:r>
              <a:rPr lang="en-IN" sz="2000" b="0" i="0" dirty="0">
                <a:solidFill>
                  <a:srgbClr val="000000"/>
                </a:solidFill>
                <a:effectLst/>
                <a:latin typeface="ff1"/>
              </a:rPr>
              <a:t>[6] </a:t>
            </a:r>
            <a:r>
              <a:rPr lang="en-IN" sz="2000" b="0" i="0" dirty="0" err="1">
                <a:solidFill>
                  <a:srgbClr val="000000"/>
                </a:solidFill>
                <a:effectLst/>
                <a:latin typeface="ff1"/>
              </a:rPr>
              <a:t>Siswanto</a:t>
            </a:r>
            <a:r>
              <a:rPr lang="en-IN" sz="2000" b="0" i="0" dirty="0">
                <a:solidFill>
                  <a:srgbClr val="000000"/>
                </a:solidFill>
                <a:effectLst/>
                <a:latin typeface="ff1"/>
              </a:rPr>
              <a:t>, Adrian </a:t>
            </a:r>
            <a:r>
              <a:rPr lang="en-IN" sz="2000" b="0" i="0" dirty="0" err="1">
                <a:solidFill>
                  <a:srgbClr val="000000"/>
                </a:solidFill>
                <a:effectLst/>
                <a:latin typeface="ff1"/>
              </a:rPr>
              <a:t>Rhesa</a:t>
            </a:r>
            <a:r>
              <a:rPr lang="en-IN" sz="2000" b="0" i="0" dirty="0">
                <a:solidFill>
                  <a:srgbClr val="000000"/>
                </a:solidFill>
                <a:effectLst/>
                <a:latin typeface="ff1"/>
              </a:rPr>
              <a:t> </a:t>
            </a:r>
            <a:r>
              <a:rPr lang="en-IN" sz="2000" b="0" i="0" dirty="0" err="1">
                <a:solidFill>
                  <a:srgbClr val="000000"/>
                </a:solidFill>
                <a:effectLst/>
                <a:latin typeface="ff1"/>
              </a:rPr>
              <a:t>Septian</a:t>
            </a:r>
            <a:r>
              <a:rPr lang="en-IN" sz="2000" b="0" i="0" dirty="0">
                <a:solidFill>
                  <a:srgbClr val="000000"/>
                </a:solidFill>
                <a:effectLst/>
                <a:latin typeface="ff1"/>
              </a:rPr>
              <a:t>, </a:t>
            </a:r>
            <a:r>
              <a:rPr lang="en-IN" sz="2000" b="0" i="0" dirty="0" err="1">
                <a:solidFill>
                  <a:srgbClr val="000000"/>
                </a:solidFill>
                <a:effectLst/>
                <a:latin typeface="ff1"/>
              </a:rPr>
              <a:t>Anto</a:t>
            </a:r>
            <a:r>
              <a:rPr lang="en-IN" sz="2000" b="0" i="0" dirty="0">
                <a:solidFill>
                  <a:srgbClr val="000000"/>
                </a:solidFill>
                <a:effectLst/>
                <a:latin typeface="ff1"/>
              </a:rPr>
              <a:t> </a:t>
            </a:r>
            <a:r>
              <a:rPr lang="en-IN" sz="2000" b="0" i="0" dirty="0" err="1">
                <a:solidFill>
                  <a:srgbClr val="000000"/>
                </a:solidFill>
                <a:effectLst/>
                <a:latin typeface="ff1"/>
              </a:rPr>
              <a:t>Satriyo</a:t>
            </a:r>
            <a:r>
              <a:rPr lang="en-IN" sz="2000" b="0" i="0" dirty="0">
                <a:solidFill>
                  <a:srgbClr val="000000"/>
                </a:solidFill>
                <a:effectLst/>
                <a:latin typeface="ff1"/>
              </a:rPr>
              <a:t> Nugroho, and </a:t>
            </a:r>
          </a:p>
          <a:p>
            <a:pPr marL="0" indent="0">
              <a:buNone/>
            </a:pPr>
            <a:r>
              <a:rPr lang="en-IN" sz="2000" b="0" i="0" dirty="0" err="1">
                <a:solidFill>
                  <a:srgbClr val="000000"/>
                </a:solidFill>
                <a:effectLst/>
                <a:latin typeface="ff1"/>
              </a:rPr>
              <a:t>Maulahikmah</a:t>
            </a:r>
            <a:r>
              <a:rPr lang="en-IN" sz="2000" b="0" i="0" dirty="0">
                <a:solidFill>
                  <a:srgbClr val="000000"/>
                </a:solidFill>
                <a:effectLst/>
                <a:latin typeface="ff1"/>
              </a:rPr>
              <a:t> </a:t>
            </a:r>
            <a:r>
              <a:rPr lang="en-IN" sz="2000" b="0" i="0" dirty="0" err="1">
                <a:solidFill>
                  <a:srgbClr val="000000"/>
                </a:solidFill>
                <a:effectLst/>
                <a:latin typeface="ff1"/>
              </a:rPr>
              <a:t>Galinium</a:t>
            </a:r>
            <a:r>
              <a:rPr lang="en-IN" sz="2000" b="0" i="0" dirty="0">
                <a:solidFill>
                  <a:srgbClr val="000000"/>
                </a:solidFill>
                <a:effectLst/>
                <a:latin typeface="ff1"/>
              </a:rPr>
              <a:t>. "Implementation of face recognition </a:t>
            </a:r>
          </a:p>
          <a:p>
            <a:pPr marL="0" indent="0">
              <a:buNone/>
            </a:pPr>
            <a:r>
              <a:rPr lang="en-IN" sz="2000" b="0" i="0" dirty="0">
                <a:solidFill>
                  <a:srgbClr val="000000"/>
                </a:solidFill>
                <a:effectLst/>
                <a:latin typeface="ff1"/>
              </a:rPr>
              <a:t>algorithm for biometrics based time attendance system." 2014 </a:t>
            </a:r>
          </a:p>
          <a:p>
            <a:pPr marL="0" indent="0">
              <a:buNone/>
            </a:pPr>
            <a:r>
              <a:rPr lang="en-IN" sz="2000" b="0" i="0" dirty="0">
                <a:solidFill>
                  <a:srgbClr val="000000"/>
                </a:solidFill>
                <a:effectLst/>
                <a:latin typeface="ff1"/>
              </a:rPr>
              <a:t>International Conference on ICT For Smart Society (ICISS). IEEE, </a:t>
            </a:r>
          </a:p>
          <a:p>
            <a:pPr marL="0" indent="0">
              <a:buNone/>
            </a:pPr>
            <a:r>
              <a:rPr lang="en-IN" sz="2000" b="0" i="0" dirty="0">
                <a:solidFill>
                  <a:srgbClr val="000000"/>
                </a:solidFill>
                <a:effectLst/>
                <a:latin typeface="ff1"/>
              </a:rPr>
              <a:t>2014.</a:t>
            </a:r>
          </a:p>
        </p:txBody>
      </p:sp>
    </p:spTree>
    <p:extLst>
      <p:ext uri="{BB962C8B-B14F-4D97-AF65-F5344CB8AC3E}">
        <p14:creationId xmlns:p14="http://schemas.microsoft.com/office/powerpoint/2010/main" val="1849872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543BB6-84B4-4558-81C7-FD4EA20EE166}"/>
              </a:ext>
            </a:extLst>
          </p:cNvPr>
          <p:cNvSpPr>
            <a:spLocks noGrp="1"/>
          </p:cNvSpPr>
          <p:nvPr>
            <p:ph idx="1"/>
          </p:nvPr>
        </p:nvSpPr>
        <p:spPr>
          <a:xfrm>
            <a:off x="590842" y="182880"/>
            <a:ext cx="10649243" cy="6372665"/>
          </a:xfrm>
        </p:spPr>
        <p:txBody>
          <a:bodyPr>
            <a:normAutofit/>
          </a:bodyPr>
          <a:lstStyle/>
          <a:p>
            <a:pPr marL="0" indent="0" algn="l">
              <a:buNone/>
            </a:pPr>
            <a:r>
              <a:rPr lang="en-IN" sz="2000" b="0" i="0" dirty="0">
                <a:solidFill>
                  <a:srgbClr val="000000"/>
                </a:solidFill>
                <a:effectLst/>
                <a:latin typeface="ff1"/>
              </a:rPr>
              <a:t>[7] Lukas, Samuel, et al. "Student attendance system in classroom using </a:t>
            </a:r>
          </a:p>
          <a:p>
            <a:pPr marL="0" indent="0" algn="l">
              <a:buNone/>
            </a:pPr>
            <a:r>
              <a:rPr lang="en-IN" sz="2000" b="0" i="0" dirty="0">
                <a:solidFill>
                  <a:srgbClr val="000000"/>
                </a:solidFill>
                <a:effectLst/>
                <a:latin typeface="ff1"/>
              </a:rPr>
              <a:t>face recognition technique." 2016 International Conference on </a:t>
            </a:r>
          </a:p>
          <a:p>
            <a:pPr marL="0" indent="0" algn="l">
              <a:buNone/>
            </a:pPr>
            <a:r>
              <a:rPr lang="en-IN" sz="2000" b="0" i="0" dirty="0">
                <a:solidFill>
                  <a:srgbClr val="000000"/>
                </a:solidFill>
                <a:effectLst/>
                <a:latin typeface="ff1"/>
              </a:rPr>
              <a:t>Information and Communication Technology Convergence (ICTC). </a:t>
            </a:r>
          </a:p>
          <a:p>
            <a:pPr marL="0" indent="0" algn="l">
              <a:buNone/>
            </a:pPr>
            <a:r>
              <a:rPr lang="en-IN" sz="2000" b="0" i="0" dirty="0">
                <a:solidFill>
                  <a:srgbClr val="000000"/>
                </a:solidFill>
                <a:effectLst/>
                <a:latin typeface="ff1"/>
              </a:rPr>
              <a:t>IEEE, 2016. </a:t>
            </a:r>
          </a:p>
          <a:p>
            <a:pPr marL="0" indent="0" algn="l">
              <a:buNone/>
            </a:pPr>
            <a:endParaRPr lang="en-IN" sz="2000" b="0" i="0" dirty="0">
              <a:solidFill>
                <a:srgbClr val="000000"/>
              </a:solidFill>
              <a:effectLst/>
              <a:latin typeface="ff1"/>
            </a:endParaRPr>
          </a:p>
          <a:p>
            <a:pPr marL="0" indent="0" algn="l">
              <a:buNone/>
            </a:pPr>
            <a:r>
              <a:rPr lang="en-IN" sz="2000" b="0" i="0" dirty="0">
                <a:solidFill>
                  <a:srgbClr val="000000"/>
                </a:solidFill>
                <a:effectLst/>
                <a:latin typeface="ff1"/>
              </a:rPr>
              <a:t>[8] https://becominghuman.ai/face-detection-using-opencv-with-haar-</a:t>
            </a:r>
          </a:p>
          <a:p>
            <a:pPr marL="0" indent="0" algn="l">
              <a:buNone/>
            </a:pPr>
            <a:r>
              <a:rPr lang="en-IN" sz="2000" b="0" i="0" dirty="0">
                <a:solidFill>
                  <a:srgbClr val="000000"/>
                </a:solidFill>
                <a:effectLst/>
                <a:latin typeface="ff1"/>
              </a:rPr>
              <a:t>cascade-classifiers-941dbb25177 </a:t>
            </a:r>
          </a:p>
          <a:p>
            <a:pPr marL="0" indent="0" algn="l">
              <a:buNone/>
            </a:pPr>
            <a:endParaRPr lang="en-IN" sz="2000" b="0" i="0" dirty="0">
              <a:solidFill>
                <a:srgbClr val="000000"/>
              </a:solidFill>
              <a:effectLst/>
              <a:latin typeface="ff1"/>
            </a:endParaRPr>
          </a:p>
          <a:p>
            <a:pPr marL="0" indent="0" algn="l">
              <a:buNone/>
            </a:pPr>
            <a:r>
              <a:rPr lang="en-IN" sz="2000" b="0" i="0" dirty="0">
                <a:solidFill>
                  <a:srgbClr val="000000"/>
                </a:solidFill>
                <a:effectLst/>
                <a:latin typeface="ff1"/>
              </a:rPr>
              <a:t>[9] https://www.superdatascience.com/blogs/opencv-face-recognition</a:t>
            </a:r>
          </a:p>
          <a:p>
            <a:pPr marL="0" indent="0" algn="l">
              <a:buNone/>
            </a:pPr>
            <a:r>
              <a:rPr lang="en-IN" sz="2000" b="0" i="0" dirty="0">
                <a:solidFill>
                  <a:srgbClr val="000000"/>
                </a:solidFill>
                <a:effectLst/>
                <a:latin typeface="ff1"/>
              </a:rPr>
              <a:t> </a:t>
            </a:r>
          </a:p>
          <a:p>
            <a:pPr marL="0" indent="0" algn="l">
              <a:buNone/>
            </a:pPr>
            <a:r>
              <a:rPr lang="en-IN" sz="2000" b="0" i="0" dirty="0">
                <a:solidFill>
                  <a:srgbClr val="000000"/>
                </a:solidFill>
                <a:effectLst/>
                <a:latin typeface="ff1"/>
              </a:rPr>
              <a:t>[10] Salim, Omar Abdul </a:t>
            </a:r>
            <a:r>
              <a:rPr lang="en-IN" sz="2000" b="0" i="0" dirty="0" err="1">
                <a:solidFill>
                  <a:srgbClr val="000000"/>
                </a:solidFill>
                <a:effectLst/>
                <a:latin typeface="ff1"/>
              </a:rPr>
              <a:t>Rhman</a:t>
            </a:r>
            <a:r>
              <a:rPr lang="en-IN" sz="2000" b="0" i="0" dirty="0">
                <a:solidFill>
                  <a:srgbClr val="000000"/>
                </a:solidFill>
                <a:effectLst/>
                <a:latin typeface="ff1"/>
              </a:rPr>
              <a:t>, </a:t>
            </a:r>
            <a:r>
              <a:rPr lang="en-IN" sz="2000" b="0" i="0" dirty="0" err="1">
                <a:solidFill>
                  <a:srgbClr val="000000"/>
                </a:solidFill>
                <a:effectLst/>
                <a:latin typeface="ff1"/>
              </a:rPr>
              <a:t>Rashidah</a:t>
            </a:r>
            <a:r>
              <a:rPr lang="en-IN" sz="2000" b="0" i="0" dirty="0">
                <a:solidFill>
                  <a:srgbClr val="000000"/>
                </a:solidFill>
                <a:effectLst/>
                <a:latin typeface="ff1"/>
              </a:rPr>
              <a:t> Funke Olanrewaju, and </a:t>
            </a:r>
            <a:r>
              <a:rPr lang="en-IN" sz="2000" b="0" i="0" dirty="0" err="1">
                <a:solidFill>
                  <a:srgbClr val="000000"/>
                </a:solidFill>
                <a:effectLst/>
                <a:latin typeface="ff1"/>
              </a:rPr>
              <a:t>Wasiu</a:t>
            </a:r>
            <a:r>
              <a:rPr lang="en-IN" sz="2000" b="0" i="0" dirty="0">
                <a:solidFill>
                  <a:srgbClr val="000000"/>
                </a:solidFill>
                <a:effectLst/>
                <a:latin typeface="ff1"/>
              </a:rPr>
              <a:t> </a:t>
            </a:r>
          </a:p>
          <a:p>
            <a:pPr marL="0" indent="0" algn="l">
              <a:buNone/>
            </a:pPr>
            <a:r>
              <a:rPr lang="en-IN" sz="2000" b="0" i="0" dirty="0">
                <a:solidFill>
                  <a:srgbClr val="000000"/>
                </a:solidFill>
                <a:effectLst/>
                <a:latin typeface="ff1"/>
              </a:rPr>
              <a:t>Adebayo Balogun. "Class attendance management system using face </a:t>
            </a:r>
          </a:p>
          <a:p>
            <a:pPr marL="0" indent="0" algn="l">
              <a:buNone/>
            </a:pPr>
            <a:r>
              <a:rPr lang="en-IN" sz="2000" b="0" i="0" dirty="0">
                <a:solidFill>
                  <a:srgbClr val="000000"/>
                </a:solidFill>
                <a:effectLst/>
                <a:latin typeface="ff1"/>
              </a:rPr>
              <a:t>recognition." 2018 7th International Conference on Computer and </a:t>
            </a:r>
          </a:p>
          <a:p>
            <a:pPr marL="0" indent="0" algn="l">
              <a:buNone/>
            </a:pPr>
            <a:r>
              <a:rPr lang="en-IN" sz="2000" b="0" i="0" dirty="0">
                <a:solidFill>
                  <a:srgbClr val="000000"/>
                </a:solidFill>
                <a:effectLst/>
                <a:latin typeface="ff1"/>
              </a:rPr>
              <a:t>Communication Engineering (ICCCE). IEEE, 2018.</a:t>
            </a:r>
          </a:p>
          <a:p>
            <a:pPr marL="0" indent="0">
              <a:buNone/>
            </a:pPr>
            <a:endParaRPr lang="en-IN" sz="2000" dirty="0"/>
          </a:p>
        </p:txBody>
      </p:sp>
    </p:spTree>
    <p:extLst>
      <p:ext uri="{BB962C8B-B14F-4D97-AF65-F5344CB8AC3E}">
        <p14:creationId xmlns:p14="http://schemas.microsoft.com/office/powerpoint/2010/main" val="3492351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D7F7-47FB-429B-8A0A-4E9AA1A0DD96}"/>
              </a:ext>
            </a:extLst>
          </p:cNvPr>
          <p:cNvSpPr>
            <a:spLocks noGrp="1"/>
          </p:cNvSpPr>
          <p:nvPr>
            <p:ph type="title"/>
          </p:nvPr>
        </p:nvSpPr>
        <p:spPr>
          <a:xfrm>
            <a:off x="2261615" y="271389"/>
            <a:ext cx="7729728" cy="1188720"/>
          </a:xfrm>
        </p:spPr>
        <p:txBody>
          <a:bodyPr>
            <a:normAutofit/>
          </a:bodyPr>
          <a:lstStyle/>
          <a:p>
            <a:r>
              <a:rPr lang="en-US" sz="3600" b="1" u="sng" dirty="0"/>
              <a:t>2.CURRENT SYSTEM:</a:t>
            </a:r>
            <a:endParaRPr lang="en-IN" sz="3600" b="1" u="sng" dirty="0"/>
          </a:p>
        </p:txBody>
      </p:sp>
      <p:sp>
        <p:nvSpPr>
          <p:cNvPr id="3" name="Content Placeholder 2">
            <a:extLst>
              <a:ext uri="{FF2B5EF4-FFF2-40B4-BE49-F238E27FC236}">
                <a16:creationId xmlns:a16="http://schemas.microsoft.com/office/drawing/2014/main" id="{4293BB58-2709-43DC-B58A-CA7A559288CD}"/>
              </a:ext>
            </a:extLst>
          </p:cNvPr>
          <p:cNvSpPr>
            <a:spLocks noGrp="1"/>
          </p:cNvSpPr>
          <p:nvPr>
            <p:ph idx="1"/>
          </p:nvPr>
        </p:nvSpPr>
        <p:spPr>
          <a:xfrm>
            <a:off x="222737" y="1758462"/>
            <a:ext cx="11746525" cy="3981157"/>
          </a:xfrm>
        </p:spPr>
        <p:txBody>
          <a:bodyPr>
            <a:normAutofit/>
          </a:bodyPr>
          <a:lstStyle/>
          <a:p>
            <a:pPr marL="0" indent="0">
              <a:buNone/>
            </a:pPr>
            <a:r>
              <a:rPr lang="en-US" sz="2800" dirty="0"/>
              <a:t>Traditional attendance marking techniques </a:t>
            </a:r>
            <a:r>
              <a:rPr lang="en-US" sz="2800" dirty="0" err="1"/>
              <a:t>i.e</a:t>
            </a:r>
            <a:r>
              <a:rPr lang="en-US" sz="2800" dirty="0"/>
              <a:t>, pen and paper or signing attendance sheets are easy to bypass and trick as giving proxies or false signatures is a common practice among students nowadays, students take an unfair advantage of this at most times. But a facial recognition system is unassailable and cannot be fooled as each person has a set of unique and individual features common to that person and cannot be replicated or changed, it all comedown to one simple truth that is, unless you are physically present in the lecture your attendance will not get marked.</a:t>
            </a:r>
            <a:endParaRPr lang="en-IN" sz="2800" dirty="0"/>
          </a:p>
        </p:txBody>
      </p:sp>
      <p:sp>
        <p:nvSpPr>
          <p:cNvPr id="4" name="AutoShape 2" descr="Teacher taking notes">
            <a:extLst>
              <a:ext uri="{FF2B5EF4-FFF2-40B4-BE49-F238E27FC236}">
                <a16:creationId xmlns:a16="http://schemas.microsoft.com/office/drawing/2014/main" id="{19302A7F-C765-45E1-9016-F926977ECDF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20403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9102C-A4CE-4B6A-BA66-89F32C6E726B}"/>
              </a:ext>
            </a:extLst>
          </p:cNvPr>
          <p:cNvSpPr>
            <a:spLocks noGrp="1"/>
          </p:cNvSpPr>
          <p:nvPr>
            <p:ph type="title"/>
          </p:nvPr>
        </p:nvSpPr>
        <p:spPr/>
        <p:txBody>
          <a:bodyPr>
            <a:normAutofit/>
          </a:bodyPr>
          <a:lstStyle/>
          <a:p>
            <a:r>
              <a:rPr lang="en-US" sz="3200" b="1" u="sng" dirty="0"/>
              <a:t>3.PROPOSED SYSTEM:</a:t>
            </a:r>
            <a:endParaRPr lang="en-IN" sz="3200" b="1" u="sng" dirty="0"/>
          </a:p>
        </p:txBody>
      </p:sp>
      <p:sp>
        <p:nvSpPr>
          <p:cNvPr id="3" name="Content Placeholder 2">
            <a:extLst>
              <a:ext uri="{FF2B5EF4-FFF2-40B4-BE49-F238E27FC236}">
                <a16:creationId xmlns:a16="http://schemas.microsoft.com/office/drawing/2014/main" id="{C8CBF3FF-6822-40C4-9496-EE2963327970}"/>
              </a:ext>
            </a:extLst>
          </p:cNvPr>
          <p:cNvSpPr>
            <a:spLocks noGrp="1"/>
          </p:cNvSpPr>
          <p:nvPr>
            <p:ph idx="1"/>
          </p:nvPr>
        </p:nvSpPr>
        <p:spPr>
          <a:xfrm>
            <a:off x="844062" y="2638044"/>
            <a:ext cx="10311618" cy="3101983"/>
          </a:xfrm>
        </p:spPr>
        <p:txBody>
          <a:bodyPr>
            <a:normAutofit/>
          </a:bodyPr>
          <a:lstStyle/>
          <a:p>
            <a:pPr marL="0" indent="0">
              <a:buNone/>
            </a:pPr>
            <a:r>
              <a:rPr lang="en-US" sz="2800" dirty="0"/>
              <a:t>In the proposed system, initially all the students will be enrolled by storing their facial images with a unique ID. ... Local Binary Patterns Histogram (LBPH) algorithm is used for face recognition and training the stored dataset, that generates the histogram for stored images and the real time image.</a:t>
            </a:r>
            <a:endParaRPr lang="en-IN" sz="2800" dirty="0"/>
          </a:p>
        </p:txBody>
      </p:sp>
    </p:spTree>
    <p:extLst>
      <p:ext uri="{BB962C8B-B14F-4D97-AF65-F5344CB8AC3E}">
        <p14:creationId xmlns:p14="http://schemas.microsoft.com/office/powerpoint/2010/main" val="2669530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9030B-E79A-4684-BDE8-D5237CACF864}"/>
              </a:ext>
            </a:extLst>
          </p:cNvPr>
          <p:cNvSpPr>
            <a:spLocks noGrp="1"/>
          </p:cNvSpPr>
          <p:nvPr>
            <p:ph type="title"/>
          </p:nvPr>
        </p:nvSpPr>
        <p:spPr>
          <a:xfrm>
            <a:off x="2231136" y="449757"/>
            <a:ext cx="7729728" cy="1188720"/>
          </a:xfrm>
        </p:spPr>
        <p:txBody>
          <a:bodyPr>
            <a:normAutofit/>
          </a:bodyPr>
          <a:lstStyle/>
          <a:p>
            <a:r>
              <a:rPr lang="en-US" sz="4000" b="1" u="sng" dirty="0">
                <a:latin typeface="Arial Black" panose="020B0A04020102020204" pitchFamily="34" charset="0"/>
              </a:rPr>
              <a:t>3.1 OVERVIEW:</a:t>
            </a:r>
            <a:endParaRPr lang="en-IN" sz="4000" b="1" u="sng" dirty="0">
              <a:latin typeface="Arial Black" panose="020B0A04020102020204" pitchFamily="34" charset="0"/>
            </a:endParaRPr>
          </a:p>
        </p:txBody>
      </p:sp>
      <p:sp>
        <p:nvSpPr>
          <p:cNvPr id="3" name="Content Placeholder 2">
            <a:extLst>
              <a:ext uri="{FF2B5EF4-FFF2-40B4-BE49-F238E27FC236}">
                <a16:creationId xmlns:a16="http://schemas.microsoft.com/office/drawing/2014/main" id="{56F5A3B0-3B0D-45DC-926B-878D864517B8}"/>
              </a:ext>
            </a:extLst>
          </p:cNvPr>
          <p:cNvSpPr>
            <a:spLocks noGrp="1"/>
          </p:cNvSpPr>
          <p:nvPr>
            <p:ph idx="1"/>
          </p:nvPr>
        </p:nvSpPr>
        <p:spPr>
          <a:xfrm>
            <a:off x="928468" y="1842868"/>
            <a:ext cx="9032396" cy="3376655"/>
          </a:xfrm>
        </p:spPr>
        <p:txBody>
          <a:bodyPr/>
          <a:lstStyle/>
          <a:p>
            <a:pPr marL="0" indent="0" algn="l">
              <a:buNone/>
            </a:pPr>
            <a:r>
              <a:rPr lang="en-US" sz="2800" b="0" i="0" dirty="0">
                <a:solidFill>
                  <a:srgbClr val="000000"/>
                </a:solidFill>
                <a:effectLst/>
                <a:latin typeface="ff1"/>
              </a:rPr>
              <a:t>Face recognition involves two steps, first step involves </a:t>
            </a:r>
          </a:p>
          <a:p>
            <a:pPr marL="0" indent="0" algn="l">
              <a:buNone/>
            </a:pPr>
            <a:r>
              <a:rPr lang="en-US" sz="2800" b="0" i="0" dirty="0">
                <a:solidFill>
                  <a:srgbClr val="000000"/>
                </a:solidFill>
                <a:effectLst/>
                <a:latin typeface="ff1"/>
              </a:rPr>
              <a:t>the detection of faces and second step consist of </a:t>
            </a:r>
          </a:p>
          <a:p>
            <a:pPr marL="0" indent="0" algn="l">
              <a:buNone/>
            </a:pPr>
            <a:r>
              <a:rPr lang="en-US" sz="2800" b="0" i="0" dirty="0">
                <a:solidFill>
                  <a:srgbClr val="000000"/>
                </a:solidFill>
                <a:effectLst/>
                <a:latin typeface="ff1"/>
              </a:rPr>
              <a:t>identification of those detected face images with the </a:t>
            </a:r>
          </a:p>
          <a:p>
            <a:pPr marL="0" indent="0" algn="l">
              <a:buNone/>
            </a:pPr>
            <a:r>
              <a:rPr lang="en-US" sz="2800" b="0" i="0" dirty="0">
                <a:solidFill>
                  <a:srgbClr val="000000"/>
                </a:solidFill>
                <a:effectLst/>
                <a:latin typeface="ff1"/>
              </a:rPr>
              <a:t>existing database.</a:t>
            </a:r>
          </a:p>
          <a:p>
            <a:endParaRPr lang="en-IN" dirty="0"/>
          </a:p>
        </p:txBody>
      </p:sp>
      <p:pic>
        <p:nvPicPr>
          <p:cNvPr id="4" name="Picture 3">
            <a:extLst>
              <a:ext uri="{FF2B5EF4-FFF2-40B4-BE49-F238E27FC236}">
                <a16:creationId xmlns:a16="http://schemas.microsoft.com/office/drawing/2014/main" id="{C88C90A6-858B-48D8-AA07-2E45827365B9}"/>
              </a:ext>
            </a:extLst>
          </p:cNvPr>
          <p:cNvPicPr>
            <a:picLocks noChangeAspect="1"/>
          </p:cNvPicPr>
          <p:nvPr/>
        </p:nvPicPr>
        <p:blipFill>
          <a:blip r:embed="rId2"/>
          <a:stretch>
            <a:fillRect/>
          </a:stretch>
        </p:blipFill>
        <p:spPr>
          <a:xfrm>
            <a:off x="3967090" y="3744397"/>
            <a:ext cx="5809956" cy="2899548"/>
          </a:xfrm>
          <a:prstGeom prst="rect">
            <a:avLst/>
          </a:prstGeom>
        </p:spPr>
      </p:pic>
    </p:spTree>
    <p:extLst>
      <p:ext uri="{BB962C8B-B14F-4D97-AF65-F5344CB8AC3E}">
        <p14:creationId xmlns:p14="http://schemas.microsoft.com/office/powerpoint/2010/main" val="121623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EAD49-9726-465B-9760-CD55A8BAAC0D}"/>
              </a:ext>
            </a:extLst>
          </p:cNvPr>
          <p:cNvSpPr>
            <a:spLocks noGrp="1"/>
          </p:cNvSpPr>
          <p:nvPr>
            <p:ph type="title"/>
          </p:nvPr>
        </p:nvSpPr>
        <p:spPr/>
        <p:txBody>
          <a:bodyPr>
            <a:normAutofit/>
          </a:bodyPr>
          <a:lstStyle/>
          <a:p>
            <a:r>
              <a:rPr lang="en-IN" sz="3200" b="1" i="0" u="sng" dirty="0">
                <a:solidFill>
                  <a:srgbClr val="273239"/>
                </a:solidFill>
                <a:effectLst/>
                <a:latin typeface="urw-din"/>
              </a:rPr>
              <a:t>3.2 Functional Requirements:</a:t>
            </a:r>
            <a:endParaRPr lang="en-IN" sz="3200" u="sng" dirty="0"/>
          </a:p>
        </p:txBody>
      </p:sp>
      <p:sp>
        <p:nvSpPr>
          <p:cNvPr id="3" name="Content Placeholder 2">
            <a:extLst>
              <a:ext uri="{FF2B5EF4-FFF2-40B4-BE49-F238E27FC236}">
                <a16:creationId xmlns:a16="http://schemas.microsoft.com/office/drawing/2014/main" id="{95E96F20-A095-4FE7-B7AB-7E4FBA937C5F}"/>
              </a:ext>
            </a:extLst>
          </p:cNvPr>
          <p:cNvSpPr>
            <a:spLocks noGrp="1"/>
          </p:cNvSpPr>
          <p:nvPr>
            <p:ph idx="1"/>
          </p:nvPr>
        </p:nvSpPr>
        <p:spPr>
          <a:xfrm>
            <a:off x="858129" y="2638044"/>
            <a:ext cx="9102735" cy="3101983"/>
          </a:xfrm>
        </p:spPr>
        <p:txBody>
          <a:bodyPr>
            <a:normAutofit fontScale="92500"/>
          </a:bodyPr>
          <a:lstStyle/>
          <a:p>
            <a:pPr algn="l">
              <a:buFont typeface="Arial" panose="020B0604020202020204" pitchFamily="34" charset="0"/>
              <a:buChar char="•"/>
            </a:pPr>
            <a:r>
              <a:rPr lang="en-US" sz="2800" b="0" i="0" dirty="0">
                <a:solidFill>
                  <a:srgbClr val="212529"/>
                </a:solidFill>
                <a:effectLst/>
                <a:latin typeface="-apple-system"/>
              </a:rPr>
              <a:t>Taking and tracking student attendance by facial recognition in specific time.</a:t>
            </a:r>
          </a:p>
          <a:p>
            <a:pPr algn="l">
              <a:buFont typeface="Arial" panose="020B0604020202020204" pitchFamily="34" charset="0"/>
              <a:buChar char="•"/>
            </a:pPr>
            <a:r>
              <a:rPr lang="en-US" sz="2800" b="0" i="0" dirty="0">
                <a:solidFill>
                  <a:srgbClr val="212529"/>
                </a:solidFill>
                <a:effectLst/>
                <a:latin typeface="-apple-system"/>
              </a:rPr>
              <a:t>Sending the names of the absent student directly to the lecturer</a:t>
            </a:r>
          </a:p>
          <a:p>
            <a:pPr algn="l">
              <a:buFont typeface="Arial" panose="020B0604020202020204" pitchFamily="34" charset="0"/>
              <a:buChar char="•"/>
            </a:pPr>
            <a:r>
              <a:rPr lang="en-US" sz="2800" b="0" i="0" dirty="0">
                <a:solidFill>
                  <a:srgbClr val="212529"/>
                </a:solidFill>
                <a:effectLst/>
                <a:latin typeface="-apple-system"/>
              </a:rPr>
              <a:t>Permitting the lecturer to modify the student absent or late.</a:t>
            </a:r>
          </a:p>
          <a:p>
            <a:pPr algn="l">
              <a:buFont typeface="Arial" panose="020B0604020202020204" pitchFamily="34" charset="0"/>
              <a:buChar char="•"/>
            </a:pPr>
            <a:r>
              <a:rPr lang="en-US" sz="2800" b="0" i="0" dirty="0">
                <a:solidFill>
                  <a:srgbClr val="212529"/>
                </a:solidFill>
                <a:effectLst/>
                <a:latin typeface="-apple-system"/>
              </a:rPr>
              <a:t>Showing the names of who is absent or late in the screen to avoid errors.</a:t>
            </a:r>
          </a:p>
        </p:txBody>
      </p:sp>
    </p:spTree>
    <p:extLst>
      <p:ext uri="{BB962C8B-B14F-4D97-AF65-F5344CB8AC3E}">
        <p14:creationId xmlns:p14="http://schemas.microsoft.com/office/powerpoint/2010/main" val="66536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94B2-0E82-4128-987A-B9C0B86E06F5}"/>
              </a:ext>
            </a:extLst>
          </p:cNvPr>
          <p:cNvSpPr>
            <a:spLocks noGrp="1"/>
          </p:cNvSpPr>
          <p:nvPr>
            <p:ph type="title"/>
          </p:nvPr>
        </p:nvSpPr>
        <p:spPr/>
        <p:txBody>
          <a:bodyPr/>
          <a:lstStyle/>
          <a:p>
            <a:r>
              <a:rPr lang="en-IN" b="1" i="0" u="sng" dirty="0">
                <a:solidFill>
                  <a:srgbClr val="273239"/>
                </a:solidFill>
                <a:effectLst/>
                <a:latin typeface="urw-din"/>
              </a:rPr>
              <a:t>3.3 Non-functional requirements:</a:t>
            </a:r>
            <a:endParaRPr lang="en-IN" u="sng" dirty="0"/>
          </a:p>
        </p:txBody>
      </p:sp>
      <p:sp>
        <p:nvSpPr>
          <p:cNvPr id="3" name="Content Placeholder 2">
            <a:extLst>
              <a:ext uri="{FF2B5EF4-FFF2-40B4-BE49-F238E27FC236}">
                <a16:creationId xmlns:a16="http://schemas.microsoft.com/office/drawing/2014/main" id="{8E9D48AA-6F4B-42AB-B0A9-AF0D20AB4870}"/>
              </a:ext>
            </a:extLst>
          </p:cNvPr>
          <p:cNvSpPr>
            <a:spLocks noGrp="1"/>
          </p:cNvSpPr>
          <p:nvPr>
            <p:ph idx="1"/>
          </p:nvPr>
        </p:nvSpPr>
        <p:spPr>
          <a:xfrm>
            <a:off x="436097" y="2638044"/>
            <a:ext cx="10508567" cy="3368861"/>
          </a:xfrm>
        </p:spPr>
        <p:txBody>
          <a:bodyPr>
            <a:normAutofit lnSpcReduction="10000"/>
          </a:bodyPr>
          <a:lstStyle/>
          <a:p>
            <a:pPr algn="l">
              <a:buFont typeface="Arial" panose="020B0604020202020204" pitchFamily="34" charset="0"/>
              <a:buChar char="•"/>
            </a:pPr>
            <a:r>
              <a:rPr lang="en-US" sz="2400" b="1" i="0" dirty="0">
                <a:solidFill>
                  <a:srgbClr val="212529"/>
                </a:solidFill>
                <a:effectLst/>
                <a:latin typeface="-apple-system"/>
              </a:rPr>
              <a:t>Accuracy and Precision:</a:t>
            </a:r>
            <a:r>
              <a:rPr lang="en-US" sz="2400" b="0" i="0" dirty="0">
                <a:solidFill>
                  <a:srgbClr val="212529"/>
                </a:solidFill>
                <a:effectLst/>
                <a:latin typeface="-apple-system"/>
              </a:rPr>
              <a:t> the system should perform its process in accuracy and Precision to avoid problems.</a:t>
            </a:r>
          </a:p>
          <a:p>
            <a:pPr algn="l">
              <a:buFont typeface="Arial" panose="020B0604020202020204" pitchFamily="34" charset="0"/>
              <a:buChar char="•"/>
            </a:pPr>
            <a:r>
              <a:rPr lang="en-US" sz="2400" b="1" i="0" dirty="0">
                <a:solidFill>
                  <a:srgbClr val="212529"/>
                </a:solidFill>
                <a:effectLst/>
                <a:latin typeface="-apple-system"/>
              </a:rPr>
              <a:t>Modifiability:</a:t>
            </a:r>
            <a:r>
              <a:rPr lang="en-US" sz="2400" b="0" i="0" dirty="0">
                <a:solidFill>
                  <a:srgbClr val="212529"/>
                </a:solidFill>
                <a:effectLst/>
                <a:latin typeface="-apple-system"/>
              </a:rPr>
              <a:t> the system should be easy to modify, any wrong should be correct.</a:t>
            </a:r>
          </a:p>
          <a:p>
            <a:pPr algn="l">
              <a:buFont typeface="Arial" panose="020B0604020202020204" pitchFamily="34" charset="0"/>
              <a:buChar char="•"/>
            </a:pPr>
            <a:r>
              <a:rPr lang="en-US" sz="2400" b="1" i="0" dirty="0">
                <a:solidFill>
                  <a:srgbClr val="212529"/>
                </a:solidFill>
                <a:effectLst/>
                <a:latin typeface="-apple-system"/>
              </a:rPr>
              <a:t>Security:</a:t>
            </a:r>
            <a:r>
              <a:rPr lang="en-US" sz="2400" b="0" i="0" dirty="0">
                <a:solidFill>
                  <a:srgbClr val="212529"/>
                </a:solidFill>
                <a:effectLst/>
                <a:latin typeface="-apple-system"/>
              </a:rPr>
              <a:t> the system should be secure and saving student’s privacy.</a:t>
            </a:r>
          </a:p>
          <a:p>
            <a:pPr algn="l">
              <a:buFont typeface="Arial" panose="020B0604020202020204" pitchFamily="34" charset="0"/>
              <a:buChar char="•"/>
            </a:pPr>
            <a:r>
              <a:rPr lang="en-US" sz="2400" b="1" i="0" dirty="0">
                <a:solidFill>
                  <a:srgbClr val="212529"/>
                </a:solidFill>
                <a:effectLst/>
                <a:latin typeface="-apple-system"/>
              </a:rPr>
              <a:t>Usability:</a:t>
            </a:r>
            <a:r>
              <a:rPr lang="en-US" sz="2400" b="0" i="0" dirty="0">
                <a:solidFill>
                  <a:srgbClr val="212529"/>
                </a:solidFill>
                <a:effectLst/>
                <a:latin typeface="-apple-system"/>
              </a:rPr>
              <a:t> the system should be easy to deal with and simple to understand.</a:t>
            </a:r>
          </a:p>
          <a:p>
            <a:pPr algn="l">
              <a:buFont typeface="Arial" panose="020B0604020202020204" pitchFamily="34" charset="0"/>
              <a:buChar char="•"/>
            </a:pPr>
            <a:r>
              <a:rPr lang="en-US" sz="2400" b="1" i="0" dirty="0">
                <a:solidFill>
                  <a:srgbClr val="212529"/>
                </a:solidFill>
                <a:effectLst/>
                <a:latin typeface="-apple-system"/>
              </a:rPr>
              <a:t>Maintainability:</a:t>
            </a:r>
            <a:r>
              <a:rPr lang="en-US" sz="2400" b="0" i="0" dirty="0">
                <a:solidFill>
                  <a:srgbClr val="212529"/>
                </a:solidFill>
                <a:effectLst/>
                <a:latin typeface="-apple-system"/>
              </a:rPr>
              <a:t> the maintenance group should be able to fix any problem occur suddenly.</a:t>
            </a:r>
          </a:p>
          <a:p>
            <a:pPr algn="l">
              <a:buFont typeface="Arial" panose="020B0604020202020204" pitchFamily="34" charset="0"/>
              <a:buChar char="•"/>
            </a:pPr>
            <a:r>
              <a:rPr lang="en-US" sz="2400" b="1" i="0" dirty="0">
                <a:solidFill>
                  <a:srgbClr val="212529"/>
                </a:solidFill>
                <a:effectLst/>
                <a:latin typeface="-apple-system"/>
              </a:rPr>
              <a:t>Speed and Responsiveness:</a:t>
            </a:r>
            <a:r>
              <a:rPr lang="en-US" sz="2400" b="0" i="0" dirty="0">
                <a:solidFill>
                  <a:srgbClr val="212529"/>
                </a:solidFill>
                <a:effectLst/>
                <a:latin typeface="-apple-system"/>
              </a:rPr>
              <a:t> Execution of operations should be fast.</a:t>
            </a:r>
          </a:p>
          <a:p>
            <a:endParaRPr lang="en-IN" dirty="0"/>
          </a:p>
        </p:txBody>
      </p:sp>
    </p:spTree>
    <p:extLst>
      <p:ext uri="{BB962C8B-B14F-4D97-AF65-F5344CB8AC3E}">
        <p14:creationId xmlns:p14="http://schemas.microsoft.com/office/powerpoint/2010/main" val="1128718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0CDF-14B4-4C4C-B466-9C9146E50A17}"/>
              </a:ext>
            </a:extLst>
          </p:cNvPr>
          <p:cNvSpPr>
            <a:spLocks noGrp="1"/>
          </p:cNvSpPr>
          <p:nvPr>
            <p:ph type="title"/>
          </p:nvPr>
        </p:nvSpPr>
        <p:spPr>
          <a:xfrm>
            <a:off x="2231136" y="655203"/>
            <a:ext cx="7729728" cy="1188720"/>
          </a:xfrm>
        </p:spPr>
        <p:txBody>
          <a:bodyPr/>
          <a:lstStyle/>
          <a:p>
            <a:r>
              <a:rPr lang="en-US" b="1" u="sng" dirty="0"/>
              <a:t>3.4 SYSTEM MODEL:</a:t>
            </a:r>
            <a:endParaRPr lang="en-IN" b="1" u="sng" dirty="0"/>
          </a:p>
        </p:txBody>
      </p:sp>
      <p:pic>
        <p:nvPicPr>
          <p:cNvPr id="5122" name="Picture 2" descr="GitHub - PrudhviGNV/Face-Recognisation-Based-Attendence: This project is  about to automate manual work of attendance through facial recognition using  OpenCV">
            <a:extLst>
              <a:ext uri="{FF2B5EF4-FFF2-40B4-BE49-F238E27FC236}">
                <a16:creationId xmlns:a16="http://schemas.microsoft.com/office/drawing/2014/main" id="{9307D489-FC9C-4CBB-BECE-F5DE82DD2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810" y="2299745"/>
            <a:ext cx="6212266" cy="4072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749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06D7-E105-4BFD-B51F-25A2B4019D23}"/>
              </a:ext>
            </a:extLst>
          </p:cNvPr>
          <p:cNvSpPr>
            <a:spLocks noGrp="1"/>
          </p:cNvSpPr>
          <p:nvPr>
            <p:ph type="title"/>
          </p:nvPr>
        </p:nvSpPr>
        <p:spPr>
          <a:xfrm>
            <a:off x="2023672" y="2188564"/>
            <a:ext cx="8162044" cy="1418894"/>
          </a:xfrm>
        </p:spPr>
        <p:txBody>
          <a:bodyPr>
            <a:normAutofit/>
          </a:bodyPr>
          <a:lstStyle/>
          <a:p>
            <a:r>
              <a:rPr lang="en-US" sz="6600" b="1" u="sng" dirty="0"/>
              <a:t>THANK YOU</a:t>
            </a:r>
            <a:endParaRPr lang="en-IN" sz="6600" b="1" u="sng" dirty="0"/>
          </a:p>
        </p:txBody>
      </p:sp>
    </p:spTree>
    <p:extLst>
      <p:ext uri="{BB962C8B-B14F-4D97-AF65-F5344CB8AC3E}">
        <p14:creationId xmlns:p14="http://schemas.microsoft.com/office/powerpoint/2010/main" val="189599056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236</TotalTime>
  <Words>1556</Words>
  <Application>Microsoft Office PowerPoint</Application>
  <PresentationFormat>Widescreen</PresentationFormat>
  <Paragraphs>146</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Agency FB</vt:lpstr>
      <vt:lpstr>-apple-system</vt:lpstr>
      <vt:lpstr>Arial</vt:lpstr>
      <vt:lpstr>Arial</vt:lpstr>
      <vt:lpstr>Arial Black</vt:lpstr>
      <vt:lpstr>ff1</vt:lpstr>
      <vt:lpstr>ff4</vt:lpstr>
      <vt:lpstr>Gill Sans MT</vt:lpstr>
      <vt:lpstr>Times New Roman</vt:lpstr>
      <vt:lpstr>urw-din</vt:lpstr>
      <vt:lpstr>Parcel</vt:lpstr>
      <vt:lpstr>Face Recognition Attendance System </vt:lpstr>
      <vt:lpstr>MADE BY:-</vt:lpstr>
      <vt:lpstr>ABSTRACT:-</vt:lpstr>
      <vt:lpstr>PowerPoint Presentation</vt:lpstr>
      <vt:lpstr>PowerPoint Presentation</vt:lpstr>
      <vt:lpstr>PowerPoint Presentation</vt:lpstr>
      <vt:lpstr>Software Requirements:</vt:lpstr>
      <vt:lpstr>LIST OF PYTHON LIBRARIES REQUIRED:</vt:lpstr>
      <vt:lpstr> face_recognition  </vt:lpstr>
      <vt:lpstr>PowerPoint Presentation</vt:lpstr>
      <vt:lpstr>SOME OTHER LIBRARIES FOR BETTER FUNCTIONALITY:</vt:lpstr>
      <vt:lpstr>Hardware Components Requirements:</vt:lpstr>
      <vt:lpstr>PowerPoint Presentation</vt:lpstr>
      <vt:lpstr>PowerPoint Presentation</vt:lpstr>
      <vt:lpstr>PowerPoint Presentation</vt:lpstr>
      <vt:lpstr>REQUIREMENT ANALYSIS DOCUMENT:-</vt:lpstr>
      <vt:lpstr>INTRODUCTION:</vt:lpstr>
      <vt:lpstr>PowerPoint Presentation</vt:lpstr>
      <vt:lpstr>1.1 PURPOSE of the System</vt:lpstr>
      <vt:lpstr>1.2 SCOPE of the System </vt:lpstr>
      <vt:lpstr>1.3 OBJECTIVE AND SUCCESS CRITERIA OF THE SYSTEM</vt:lpstr>
      <vt:lpstr>1.4 REFERENCES:</vt:lpstr>
      <vt:lpstr>PowerPoint Presentation</vt:lpstr>
      <vt:lpstr>PowerPoint Presentation</vt:lpstr>
      <vt:lpstr>2.CURRENT SYSTEM:</vt:lpstr>
      <vt:lpstr>3.PROPOSED SYSTEM:</vt:lpstr>
      <vt:lpstr>3.1 OVERVIEW:</vt:lpstr>
      <vt:lpstr>3.2 Functional Requirements:</vt:lpstr>
      <vt:lpstr>3.3 Non-functional requirements:</vt:lpstr>
      <vt:lpstr>3.4 SYSTEM MODEL: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Recognition Attendance System </dc:title>
  <dc:creator>BALA</dc:creator>
  <cp:lastModifiedBy>BALA</cp:lastModifiedBy>
  <cp:revision>18</cp:revision>
  <dcterms:created xsi:type="dcterms:W3CDTF">2022-02-15T16:29:51Z</dcterms:created>
  <dcterms:modified xsi:type="dcterms:W3CDTF">2022-02-19T04:05:52Z</dcterms:modified>
</cp:coreProperties>
</file>